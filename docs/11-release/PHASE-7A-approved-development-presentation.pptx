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17af63e2d142de" /><Relationship Type="http://schemas.openxmlformats.org/officeDocument/2006/relationships/extended-properties" Target="/docProps/app.xml" Id="R0aa2b585bd7640c8" /><Relationship Type="http://schemas.openxmlformats.org/officeDocument/2006/relationships/officeDocument" Target="/ppt/presentation.xml" Id="Ra4770ded47d64cd4" /></Relationships>
</file>

<file path=ppt/presentation.xml><?xml version="1.0" encoding="utf-8"?>
<p:presentation xmlns:p="http://schemas.openxmlformats.org/presentationml/2006/main">
  <p:sldMasterIdLst>
    <p:sldMasterId xmlns:r="http://schemas.openxmlformats.org/officeDocument/2006/relationships" id="2147483648" r:id="R82c02abf9c3f4c1f"/>
  </p:sldMasterIdLst>
  <p:notesMasterIdLst>
    <p:notesMasterId xmlns:r="http://schemas.openxmlformats.org/officeDocument/2006/relationships" r:id="R9e81353d7b0e41f1"/>
  </p:notesMasterIdLst>
  <p:sldIdLst>
    <p:sldId xmlns:r="http://schemas.openxmlformats.org/officeDocument/2006/relationships" id="256" r:id="Reeb7a2695525443e"/>
    <p:sldId xmlns:r="http://schemas.openxmlformats.org/officeDocument/2006/relationships" id="257" r:id="R8c9732ffe6fb41c2"/>
    <p:sldId xmlns:r="http://schemas.openxmlformats.org/officeDocument/2006/relationships" id="258" r:id="Rc74923e0bb6340e7"/>
    <p:sldId xmlns:r="http://schemas.openxmlformats.org/officeDocument/2006/relationships" id="259" r:id="R2b2e1438503d4f34"/>
    <p:sldId xmlns:r="http://schemas.openxmlformats.org/officeDocument/2006/relationships" id="260" r:id="Rdab2e61835fc487a"/>
    <p:sldId xmlns:r="http://schemas.openxmlformats.org/officeDocument/2006/relationships" id="261" r:id="Rc061682329a64fe3"/>
    <p:sldId xmlns:r="http://schemas.openxmlformats.org/officeDocument/2006/relationships" id="262" r:id="R7253f4eb9e6845d3"/>
    <p:sldId xmlns:r="http://schemas.openxmlformats.org/officeDocument/2006/relationships" id="263" r:id="R645b4a7e4d324eff"/>
    <p:sldId xmlns:r="http://schemas.openxmlformats.org/officeDocument/2006/relationships" id="264" r:id="Rce7eb336fbed47ab"/>
    <p:sldId xmlns:r="http://schemas.openxmlformats.org/officeDocument/2006/relationships" id="265" r:id="R7c2f4aa206e3421d"/>
    <p:sldId xmlns:r="http://schemas.openxmlformats.org/officeDocument/2006/relationships" id="266" r:id="R37fee296fb3843db"/>
    <p:sldId xmlns:r="http://schemas.openxmlformats.org/officeDocument/2006/relationships" id="267" r:id="R575797d59a694f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73bd33ea2d43a6" /><Relationship Type="http://schemas.openxmlformats.org/officeDocument/2006/relationships/slideMaster" Target="/ppt/slideMasters/slideMaster1.xml" Id="R82c02abf9c3f4c1f" /><Relationship Type="http://schemas.openxmlformats.org/officeDocument/2006/relationships/notesMaster" Target="/ppt/notesMasters/notesMaster1.xml" Id="R9e81353d7b0e41f1" /><Relationship Type="http://schemas.openxmlformats.org/officeDocument/2006/relationships/presProps" Target="/ppt/presProps.xml" Id="R19f8eb5a4d774890" /><Relationship Type="http://schemas.openxmlformats.org/officeDocument/2006/relationships/tableStyles" Target="/ppt/tableStyles.xml" Id="R594d50bdb7fe453e" /><Relationship Type="http://schemas.openxmlformats.org/officeDocument/2006/relationships/slide" Target="/ppt/slides/slide1.xml" Id="Reeb7a2695525443e" /><Relationship Type="http://schemas.openxmlformats.org/officeDocument/2006/relationships/slide" Target="/ppt/slides/slide2.xml" Id="R8c9732ffe6fb41c2" /><Relationship Type="http://schemas.openxmlformats.org/officeDocument/2006/relationships/slide" Target="/ppt/slides/slide3.xml" Id="Rc74923e0bb6340e7" /><Relationship Type="http://schemas.openxmlformats.org/officeDocument/2006/relationships/slide" Target="/ppt/slides/slide4.xml" Id="R2b2e1438503d4f34" /><Relationship Type="http://schemas.openxmlformats.org/officeDocument/2006/relationships/slide" Target="/ppt/slides/slide5.xml" Id="Rdab2e61835fc487a" /><Relationship Type="http://schemas.openxmlformats.org/officeDocument/2006/relationships/slide" Target="/ppt/slides/slide6.xml" Id="Rc061682329a64fe3" /><Relationship Type="http://schemas.openxmlformats.org/officeDocument/2006/relationships/slide" Target="/ppt/slides/slide7.xml" Id="R7253f4eb9e6845d3" /><Relationship Type="http://schemas.openxmlformats.org/officeDocument/2006/relationships/slide" Target="/ppt/slides/slide8.xml" Id="R645b4a7e4d324eff" /><Relationship Type="http://schemas.openxmlformats.org/officeDocument/2006/relationships/slide" Target="/ppt/slides/slide9.xml" Id="Rce7eb336fbed47ab" /><Relationship Type="http://schemas.openxmlformats.org/officeDocument/2006/relationships/slide" Target="/ppt/slides/slide10.xml" Id="R7c2f4aa206e3421d" /><Relationship Type="http://schemas.openxmlformats.org/officeDocument/2006/relationships/slide" Target="/ppt/slides/slide11.xml" Id="R37fee296fb3843db" /><Relationship Type="http://schemas.openxmlformats.org/officeDocument/2006/relationships/slide" Target="/ppt/slides/slide12.xml" Id="R575797d59a694f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4a9b3c72454c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dbf70fda094d69" /><Relationship Type="http://schemas.openxmlformats.org/officeDocument/2006/relationships/notesMaster" Target="/ppt/notesMasters/notesMaster1.xml" Id="Ref1c6232c29642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774d1d3b1d44e5" /><Relationship Type="http://schemas.openxmlformats.org/officeDocument/2006/relationships/notesMaster" Target="/ppt/notesMasters/notesMaster1.xml" Id="R28da134954224c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ad6e526c504457" /><Relationship Type="http://schemas.openxmlformats.org/officeDocument/2006/relationships/notesMaster" Target="/ppt/notesMasters/notesMaster1.xml" Id="R0f0ea161070344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e7fc994c9c4c3f" /><Relationship Type="http://schemas.openxmlformats.org/officeDocument/2006/relationships/notesMaster" Target="/ppt/notesMasters/notesMaster1.xml" Id="R1c84b30dd2994b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25cc5344c24712" /><Relationship Type="http://schemas.openxmlformats.org/officeDocument/2006/relationships/notesMaster" Target="/ppt/notesMasters/notesMaster1.xml" Id="Rd3b4565d345747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158fdc6f904a34" /><Relationship Type="http://schemas.openxmlformats.org/officeDocument/2006/relationships/notesMaster" Target="/ppt/notesMasters/notesMaster1.xml" Id="Rb56485d9f29747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0b9c3b302d48e0" /><Relationship Type="http://schemas.openxmlformats.org/officeDocument/2006/relationships/notesMaster" Target="/ppt/notesMasters/notesMaster1.xml" Id="R815f7f579fba4d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cbda0cc2554dec" /><Relationship Type="http://schemas.openxmlformats.org/officeDocument/2006/relationships/notesMaster" Target="/ppt/notesMasters/notesMaster1.xml" Id="R406835ff7bc543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cfcc7df8324dd1" /><Relationship Type="http://schemas.openxmlformats.org/officeDocument/2006/relationships/notesMaster" Target="/ppt/notesMasters/notesMaster1.xml" Id="R406766d19eea4c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e992e7c173498f" /><Relationship Type="http://schemas.openxmlformats.org/officeDocument/2006/relationships/notesMaster" Target="/ppt/notesMasters/notesMaster1.xml" Id="Rf85defca627749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35b49b07f54b6b" /><Relationship Type="http://schemas.openxmlformats.org/officeDocument/2006/relationships/notesMaster" Target="/ppt/notesMasters/notesMaster1.xml" Id="R012a43f6832348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3f57e8d12b44b5" /><Relationship Type="http://schemas.openxmlformats.org/officeDocument/2006/relationships/notesMaster" Target="/ppt/notesMasters/notesMaster1.xml" Id="Rbdab69df741e4d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a10876efa34e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18392686c64814" /><Relationship Type="http://schemas.openxmlformats.org/officeDocument/2006/relationships/slideLayout" Target="/ppt/slideLayouts/slideLayout1.xml" Id="Rc7679c6422c444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679c6422c444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9cc8fa9def4ae7" /><Relationship Type="http://schemas.openxmlformats.org/officeDocument/2006/relationships/image" Target="/ppt/media/image.jpeg" Id="R9bfd45c46d184a2c" /><Relationship Type="http://schemas.openxmlformats.org/officeDocument/2006/relationships/notesSlide" Target="/ppt/notesSlides/notesSlide1.xml" Id="R83bdbb3d6e8940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f6de110f4a4828" /><Relationship Type="http://schemas.openxmlformats.org/officeDocument/2006/relationships/notesSlide" Target="/ppt/notesSlides/notesSlide2.xml" Id="R58f409acb2d047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0453216a944920" /><Relationship Type="http://schemas.openxmlformats.org/officeDocument/2006/relationships/notesSlide" Target="/ppt/notesSlides/notesSlide3.xml" Id="Rc85209ebc55d41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240e6066ab4275" /><Relationship Type="http://schemas.openxmlformats.org/officeDocument/2006/relationships/notesSlide" Target="/ppt/notesSlides/notesSlide4.xml" Id="R7d4eb1514c3a42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5ff3051d084d0b" /><Relationship Type="http://schemas.openxmlformats.org/officeDocument/2006/relationships/notesSlide" Target="/ppt/notesSlides/notesSlide5.xml" Id="R3208884f928f4c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fa4c2fb394851" /><Relationship Type="http://schemas.openxmlformats.org/officeDocument/2006/relationships/image" Target="/ppt/media/image2.jpeg" Id="Rbc993c65704c4794" /><Relationship Type="http://schemas.openxmlformats.org/officeDocument/2006/relationships/notesSlide" Target="/ppt/notesSlides/notesSlide6.xml" Id="R39d04ade38ee43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53c7e52a534209" /><Relationship Type="http://schemas.openxmlformats.org/officeDocument/2006/relationships/notesSlide" Target="/ppt/notesSlides/notesSlide7.xml" Id="R3cc0b3a9255e48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2927ad56c349a6" /><Relationship Type="http://schemas.openxmlformats.org/officeDocument/2006/relationships/notesSlide" Target="/ppt/notesSlides/notesSlide8.xml" Id="R80b6f979b2c647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b10d9be0114d6f" /><Relationship Type="http://schemas.openxmlformats.org/officeDocument/2006/relationships/notesSlide" Target="/ppt/notesSlides/notesSlide9.xml" Id="R01729b6e3b4944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a8e3f75d3f4f03" /><Relationship Type="http://schemas.openxmlformats.org/officeDocument/2006/relationships/notesSlide" Target="/ppt/notesSlides/notesSlide10.xml" Id="R72c2ab9598d940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ab6d7696fe4616" /><Relationship Type="http://schemas.openxmlformats.org/officeDocument/2006/relationships/notesSlide" Target="/ppt/notesSlides/notesSlide11.xml" Id="R2f2e370f3f6449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bfcb72306643cc" /><Relationship Type="http://schemas.openxmlformats.org/officeDocument/2006/relationships/notesSlide" Target="/ppt/notesSlides/notesSlide12.xml" Id="R0ab32d3e78e946e6"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F9A69A-FA95-4041-A93C-0D366362C9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20618"/>
          </a:solidFill>
          <a:ln xmlns:a="http://schemas.openxmlformats.org/drawingml/2006/main" w="9525">
            <a:solidFill>
              <a:srgbClr val="020618"/>
            </a:solidFill>
            <a:prstDash val="solid"/>
          </a:ln>
        </p:spPr>
      </p:sp>
      <p:sp>
        <p:nvSpPr>
          <p:cNvPr id="2" name="">
            <a:extLst xmlns:a="http://schemas.openxmlformats.org/drawingml/2006/main">
              <a:ext uri="{FF2B5EF4-FFF2-40B4-BE49-F238E27FC236}">
                <a16:creationId xmlns:a16="http://schemas.microsoft.com/office/drawing/2014/main" id="{A88FB881-1207-4766-AB2E-D3E0FB165FAD}"/>
              </a:ext>
            </a:extLst>
          </p:cNvPr>
          <p:cNvSpPr>
            <a:spLocks xmlns:a="http://schemas.openxmlformats.org/drawingml/2006/main" noGrp="1"/>
          </p:cNvSpPr>
          <p:nvPr/>
        </p:nvSpPr>
        <p:spPr>
          <a:xfrm xmlns:a="http://schemas.openxmlformats.org/drawingml/2006/main">
            <a:off x="666750" y="685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EDBFF"/>
                </a:solidFill>
              </a:defRPr>
            </a:pPr>
            <a:r>
              <a:rPr sz="1650" b="1">
                <a:solidFill>
                  <a:srgbClr val="BEDBFF"/>
                </a:solidFill>
              </a:rPr>
              <a:t>PHASE 7A</a:t>
            </a:r>
          </a:p>
        </p:txBody>
      </p:sp>
      <p:sp>
        <p:nvSpPr>
          <p:cNvPr id="3" name="">
            <a:extLst xmlns:a="http://schemas.openxmlformats.org/drawingml/2006/main">
              <a:ext uri="{FF2B5EF4-FFF2-40B4-BE49-F238E27FC236}">
                <a16:creationId xmlns:a16="http://schemas.microsoft.com/office/drawing/2014/main" id="{984FDAD8-F14D-45AA-B2AF-96A21832B457}"/>
              </a:ext>
            </a:extLst>
          </p:cNvPr>
          <p:cNvSpPr>
            <a:spLocks xmlns:a="http://schemas.openxmlformats.org/drawingml/2006/main" noGrp="1"/>
          </p:cNvSpPr>
          <p:nvPr/>
        </p:nvSpPr>
        <p:spPr>
          <a:xfrm xmlns:a="http://schemas.openxmlformats.org/drawingml/2006/main">
            <a:off x="666750" y="1162050"/>
            <a:ext cx="5238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FFFFFF"/>
                </a:solidFill>
              </a:defRPr>
            </a:pPr>
            <a:r>
              <a:rPr sz="4200" b="1">
                <a:solidFill>
                  <a:srgbClr val="FFFFFF"/>
                </a:solidFill>
              </a:rPr>
              <a:t>Approved Development Plan</a:t>
            </a:r>
          </a:p>
        </p:txBody>
      </p:sp>
      <p:sp>
        <p:nvSpPr>
          <p:cNvPr id="4" name="">
            <a:extLst xmlns:a="http://schemas.openxmlformats.org/drawingml/2006/main">
              <a:ext uri="{FF2B5EF4-FFF2-40B4-BE49-F238E27FC236}">
                <a16:creationId xmlns:a16="http://schemas.microsoft.com/office/drawing/2014/main" id="{D690599F-5DAC-4E04-A4AF-D1762D859BD1}"/>
              </a:ext>
            </a:extLst>
          </p:cNvPr>
          <p:cNvSpPr>
            <a:spLocks xmlns:a="http://schemas.openxmlformats.org/drawingml/2006/main" noGrp="1"/>
          </p:cNvSpPr>
          <p:nvPr/>
        </p:nvSpPr>
        <p:spPr>
          <a:xfrm xmlns:a="http://schemas.openxmlformats.org/drawingml/2006/main">
            <a:off x="685800" y="2647950"/>
            <a:ext cx="495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E2E8F0"/>
                </a:solidFill>
              </a:defRPr>
            </a:pPr>
            <a:r>
              <a:rPr sz="1800" b="0">
                <a:solidFill>
                  <a:srgbClr val="E2E8F0"/>
                </a:solidFill>
              </a:rPr>
              <a:t>What we approved, what will be built, who it serves, and how the HRMS foundation will work.</a:t>
            </a:r>
          </a:p>
        </p:txBody>
      </p:sp>
      <p:sp>
        <p:nvSpPr>
          <p:cNvPr id="5" name="">
            <a:extLst xmlns:a="http://schemas.openxmlformats.org/drawingml/2006/main">
              <a:ext uri="{FF2B5EF4-FFF2-40B4-BE49-F238E27FC236}">
                <a16:creationId xmlns:a16="http://schemas.microsoft.com/office/drawing/2014/main" id="{9CADF37B-6D87-4AE1-84CD-FA482BB848D1}"/>
              </a:ext>
            </a:extLst>
          </p:cNvPr>
          <p:cNvSpPr>
            <a:spLocks xmlns:a="http://schemas.openxmlformats.org/drawingml/2006/main" noGrp="1"/>
          </p:cNvSpPr>
          <p:nvPr/>
        </p:nvSpPr>
        <p:spPr>
          <a:xfrm xmlns:a="http://schemas.openxmlformats.org/drawingml/2006/main">
            <a:off x="685800" y="4114800"/>
            <a:ext cx="2095500" cy="1123950"/>
          </a:xfrm>
          <a:prstGeom xmlns:a="http://schemas.openxmlformats.org/drawingml/2006/main" prst="roundRect">
            <a:avLst>
              <a:gd name="adj" fmla="val 6780"/>
            </a:avLst>
          </a:prstGeom>
          <a:solidFill xmlns:a="http://schemas.openxmlformats.org/drawingml/2006/main">
            <a:srgbClr val="1D293D"/>
          </a:solidFill>
          <a:ln xmlns:a="http://schemas.openxmlformats.org/drawingml/2006/main" w="9525">
            <a:solidFill>
              <a:srgbClr val="E2E8F0"/>
            </a:solidFill>
            <a:prstDash val="solid"/>
          </a:ln>
        </p:spPr>
      </p:sp>
      <p:sp>
        <p:nvSpPr>
          <p:cNvPr id="6" name="">
            <a:extLst xmlns:a="http://schemas.openxmlformats.org/drawingml/2006/main">
              <a:ext uri="{FF2B5EF4-FFF2-40B4-BE49-F238E27FC236}">
                <a16:creationId xmlns:a16="http://schemas.microsoft.com/office/drawing/2014/main" id="{3B024644-5D9C-4179-9E19-C56B2D117C24}"/>
              </a:ext>
            </a:extLst>
          </p:cNvPr>
          <p:cNvSpPr>
            <a:spLocks xmlns:a="http://schemas.openxmlformats.org/drawingml/2006/main" noGrp="1"/>
          </p:cNvSpPr>
          <p:nvPr/>
        </p:nvSpPr>
        <p:spPr>
          <a:xfrm xmlns:a="http://schemas.openxmlformats.org/drawingml/2006/main">
            <a:off x="895350" y="4286250"/>
            <a:ext cx="1676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BEDBFF"/>
                </a:solidFill>
              </a:defRPr>
            </a:pPr>
            <a:r>
              <a:rPr sz="2850" b="1">
                <a:solidFill>
                  <a:srgbClr val="BEDBFF"/>
                </a:solidFill>
              </a:rPr>
              <a:t>60/60</a:t>
            </a:r>
          </a:p>
        </p:txBody>
      </p:sp>
      <p:sp>
        <p:nvSpPr>
          <p:cNvPr id="7" name="">
            <a:extLst xmlns:a="http://schemas.openxmlformats.org/drawingml/2006/main">
              <a:ext uri="{FF2B5EF4-FFF2-40B4-BE49-F238E27FC236}">
                <a16:creationId xmlns:a16="http://schemas.microsoft.com/office/drawing/2014/main" id="{D6411F1F-59B4-43F2-8D7B-ABBB79250980}"/>
              </a:ext>
            </a:extLst>
          </p:cNvPr>
          <p:cNvSpPr>
            <a:spLocks xmlns:a="http://schemas.openxmlformats.org/drawingml/2006/main" noGrp="1"/>
          </p:cNvSpPr>
          <p:nvPr/>
        </p:nvSpPr>
        <p:spPr>
          <a:xfrm xmlns:a="http://schemas.openxmlformats.org/drawingml/2006/main">
            <a:off x="895350" y="47625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AD5E2"/>
                </a:solidFill>
              </a:defRPr>
            </a:pPr>
            <a:r>
              <a:rPr sz="1275" b="0">
                <a:solidFill>
                  <a:srgbClr val="CAD5E2"/>
                </a:solidFill>
              </a:rPr>
              <a:t>Phase 7A documents approved</a:t>
            </a:r>
          </a:p>
        </p:txBody>
      </p:sp>
      <p:sp>
        <p:nvSpPr>
          <p:cNvPr id="8" name="">
            <a:extLst xmlns:a="http://schemas.openxmlformats.org/drawingml/2006/main">
              <a:ext uri="{FF2B5EF4-FFF2-40B4-BE49-F238E27FC236}">
                <a16:creationId xmlns:a16="http://schemas.microsoft.com/office/drawing/2014/main" id="{E8001563-C6DB-4252-ABB4-2E22151FC252}"/>
              </a:ext>
            </a:extLst>
          </p:cNvPr>
          <p:cNvSpPr>
            <a:spLocks xmlns:a="http://schemas.openxmlformats.org/drawingml/2006/main" noGrp="1"/>
          </p:cNvSpPr>
          <p:nvPr/>
        </p:nvSpPr>
        <p:spPr>
          <a:xfrm xmlns:a="http://schemas.openxmlformats.org/drawingml/2006/main">
            <a:off x="3009900" y="4114800"/>
            <a:ext cx="2095500" cy="1123950"/>
          </a:xfrm>
          <a:prstGeom xmlns:a="http://schemas.openxmlformats.org/drawingml/2006/main" prst="roundRect">
            <a:avLst>
              <a:gd name="adj" fmla="val 6780"/>
            </a:avLst>
          </a:prstGeom>
          <a:solidFill xmlns:a="http://schemas.openxmlformats.org/drawingml/2006/main">
            <a:srgbClr val="1D293D"/>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6239B5FD-CDD7-4C8B-94B3-38EFE3BCD971}"/>
              </a:ext>
            </a:extLst>
          </p:cNvPr>
          <p:cNvSpPr>
            <a:spLocks xmlns:a="http://schemas.openxmlformats.org/drawingml/2006/main" noGrp="1"/>
          </p:cNvSpPr>
          <p:nvPr/>
        </p:nvSpPr>
        <p:spPr>
          <a:xfrm xmlns:a="http://schemas.openxmlformats.org/drawingml/2006/main">
            <a:off x="3219450" y="4286250"/>
            <a:ext cx="1676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A4F4CF"/>
                </a:solidFill>
              </a:defRPr>
            </a:pPr>
            <a:r>
              <a:rPr sz="2850" b="1">
                <a:solidFill>
                  <a:srgbClr val="A4F4CF"/>
                </a:solidFill>
              </a:rPr>
              <a:t>11</a:t>
            </a:r>
          </a:p>
        </p:txBody>
      </p:sp>
      <p:sp>
        <p:nvSpPr>
          <p:cNvPr id="10" name="">
            <a:extLst xmlns:a="http://schemas.openxmlformats.org/drawingml/2006/main">
              <a:ext uri="{FF2B5EF4-FFF2-40B4-BE49-F238E27FC236}">
                <a16:creationId xmlns:a16="http://schemas.microsoft.com/office/drawing/2014/main" id="{345F218D-97E2-4880-8186-72F4048BC1D0}"/>
              </a:ext>
            </a:extLst>
          </p:cNvPr>
          <p:cNvSpPr>
            <a:spLocks xmlns:a="http://schemas.openxmlformats.org/drawingml/2006/main" noGrp="1"/>
          </p:cNvSpPr>
          <p:nvPr/>
        </p:nvSpPr>
        <p:spPr>
          <a:xfrm xmlns:a="http://schemas.openxmlformats.org/drawingml/2006/main">
            <a:off x="3219450" y="47625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AD5E2"/>
                </a:solidFill>
              </a:defRPr>
            </a:pPr>
            <a:r>
              <a:rPr sz="1275" b="0">
                <a:solidFill>
                  <a:srgbClr val="CAD5E2"/>
                </a:solidFill>
              </a:rPr>
              <a:t>business and foundation modules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bfd45c46d184a2c"/>
          <a:srcRect xmlns:a="http://schemas.openxmlformats.org/drawingml/2006/main" l="22315" t="0" r="22315" b="0"/>
          <a:stretch xmlns:a="http://schemas.openxmlformats.org/drawingml/2006/main">
            <a:fillRect l="0" t="0" r="0" b="0"/>
          </a:stretch>
        </p:blipFill>
        <p:spPr>
          <a:xfrm xmlns:a="http://schemas.openxmlformats.org/drawingml/2006/main">
            <a:off x="6496050" y="0"/>
            <a:ext cx="5695950" cy="6858000"/>
          </a:xfrm>
          <a:prstGeom xmlns:a="http://schemas.openxmlformats.org/drawingml/2006/main" prst="roundRect">
            <a:avLst>
              <a:gd name="adj" fmla="val 2007"/>
            </a:avLst>
          </a:prstGeom>
        </p:spPr>
      </p:pic>
    </p:spTree>
    <p:extLst>
      <p:ext uri="{BB962C8B-B14F-4D97-AF65-F5344CB8AC3E}">
        <p14:creationId xmlns:p14="http://schemas.microsoft.com/office/powerpoint/2010/main" val="163561013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66B1A2-1282-49F4-AFA4-0A5D2CF8AC9D}"/>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The Approved Conclusion</a:t>
            </a:r>
          </a:p>
        </p:txBody>
      </p:sp>
      <p:sp>
        <p:nvSpPr>
          <p:cNvPr id="2" name="">
            <a:extLst xmlns:a="http://schemas.openxmlformats.org/drawingml/2006/main">
              <a:ext uri="{FF2B5EF4-FFF2-40B4-BE49-F238E27FC236}">
                <a16:creationId xmlns:a16="http://schemas.microsoft.com/office/drawing/2014/main" id="{D560CB1D-DBF9-4550-93B7-CCB44BAD70C9}"/>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Phase 7A is the first complete working foundation of the HRMS platform.</a:t>
            </a:r>
          </a:p>
        </p:txBody>
      </p:sp>
      <p:sp>
        <p:nvSpPr>
          <p:cNvPr id="3" name="">
            <a:extLst xmlns:a="http://schemas.openxmlformats.org/drawingml/2006/main">
              <a:ext uri="{FF2B5EF4-FFF2-40B4-BE49-F238E27FC236}">
                <a16:creationId xmlns:a16="http://schemas.microsoft.com/office/drawing/2014/main" id="{B2C7B7BB-F17C-4908-B3CD-9BF7BE61522B}"/>
              </a:ext>
            </a:extLst>
          </p:cNvPr>
          <p:cNvSpPr>
            <a:spLocks xmlns:a="http://schemas.openxmlformats.org/drawingml/2006/main" noGrp="1"/>
          </p:cNvSpPr>
          <p:nvPr/>
        </p:nvSpPr>
        <p:spPr>
          <a:xfrm xmlns:a="http://schemas.openxmlformats.org/drawingml/2006/main">
            <a:off x="781050" y="1790700"/>
            <a:ext cx="2857500" cy="1123950"/>
          </a:xfrm>
          <a:prstGeom xmlns:a="http://schemas.openxmlformats.org/drawingml/2006/main" prst="roundRect">
            <a:avLst>
              <a:gd name="adj" fmla="val 6780"/>
            </a:avLst>
          </a:prstGeom>
          <a:solidFill xmlns:a="http://schemas.openxmlformats.org/drawingml/2006/main">
            <a:srgbClr val="EFF6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5E5F5431-C27F-4753-A7AD-95F4A8578DEB}"/>
              </a:ext>
            </a:extLst>
          </p:cNvPr>
          <p:cNvSpPr>
            <a:spLocks xmlns:a="http://schemas.openxmlformats.org/drawingml/2006/main" noGrp="1"/>
          </p:cNvSpPr>
          <p:nvPr/>
        </p:nvSpPr>
        <p:spPr>
          <a:xfrm xmlns:a="http://schemas.openxmlformats.org/drawingml/2006/main">
            <a:off x="990600" y="196215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447E6"/>
                </a:solidFill>
              </a:defRPr>
            </a:pPr>
            <a:r>
              <a:rPr sz="2850" b="1">
                <a:solidFill>
                  <a:srgbClr val="1447E6"/>
                </a:solidFill>
              </a:rPr>
              <a:t>55</a:t>
            </a:r>
          </a:p>
        </p:txBody>
      </p:sp>
      <p:sp>
        <p:nvSpPr>
          <p:cNvPr id="5" name="">
            <a:extLst xmlns:a="http://schemas.openxmlformats.org/drawingml/2006/main">
              <a:ext uri="{FF2B5EF4-FFF2-40B4-BE49-F238E27FC236}">
                <a16:creationId xmlns:a16="http://schemas.microsoft.com/office/drawing/2014/main" id="{437DC7D1-24A1-42A6-8166-6AC3E9694873}"/>
              </a:ext>
            </a:extLst>
          </p:cNvPr>
          <p:cNvSpPr>
            <a:spLocks xmlns:a="http://schemas.openxmlformats.org/drawingml/2006/main" noGrp="1"/>
          </p:cNvSpPr>
          <p:nvPr/>
        </p:nvSpPr>
        <p:spPr>
          <a:xfrm xmlns:a="http://schemas.openxmlformats.org/drawingml/2006/main">
            <a:off x="990600" y="243840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implementation documents approved</a:t>
            </a:r>
          </a:p>
        </p:txBody>
      </p:sp>
      <p:sp>
        <p:nvSpPr>
          <p:cNvPr id="6" name="">
            <a:extLst xmlns:a="http://schemas.openxmlformats.org/drawingml/2006/main">
              <a:ext uri="{FF2B5EF4-FFF2-40B4-BE49-F238E27FC236}">
                <a16:creationId xmlns:a16="http://schemas.microsoft.com/office/drawing/2014/main" id="{117814CC-E196-4A7A-91D3-D8B310136327}"/>
              </a:ext>
            </a:extLst>
          </p:cNvPr>
          <p:cNvSpPr>
            <a:spLocks xmlns:a="http://schemas.openxmlformats.org/drawingml/2006/main" noGrp="1"/>
          </p:cNvSpPr>
          <p:nvPr/>
        </p:nvSpPr>
        <p:spPr>
          <a:xfrm xmlns:a="http://schemas.openxmlformats.org/drawingml/2006/main">
            <a:off x="4019550" y="1790700"/>
            <a:ext cx="2857500" cy="1123950"/>
          </a:xfrm>
          <a:prstGeom xmlns:a="http://schemas.openxmlformats.org/drawingml/2006/main" prst="roundRect">
            <a:avLst>
              <a:gd name="adj" fmla="val 6780"/>
            </a:avLst>
          </a:prstGeom>
          <a:solidFill xmlns:a="http://schemas.openxmlformats.org/drawingml/2006/main">
            <a:srgbClr val="ECFDF5"/>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703E71D3-C561-437B-8558-C4C5BF9E0B1B}"/>
              </a:ext>
            </a:extLst>
          </p:cNvPr>
          <p:cNvSpPr>
            <a:spLocks xmlns:a="http://schemas.openxmlformats.org/drawingml/2006/main" noGrp="1"/>
          </p:cNvSpPr>
          <p:nvPr/>
        </p:nvSpPr>
        <p:spPr>
          <a:xfrm xmlns:a="http://schemas.openxmlformats.org/drawingml/2006/main">
            <a:off x="4229100" y="196215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9966"/>
                </a:solidFill>
              </a:defRPr>
            </a:pPr>
            <a:r>
              <a:rPr sz="2850" b="1">
                <a:solidFill>
                  <a:srgbClr val="009966"/>
                </a:solidFill>
              </a:rPr>
              <a:t>5</a:t>
            </a:r>
          </a:p>
        </p:txBody>
      </p:sp>
      <p:sp>
        <p:nvSpPr>
          <p:cNvPr id="8" name="">
            <a:extLst xmlns:a="http://schemas.openxmlformats.org/drawingml/2006/main">
              <a:ext uri="{FF2B5EF4-FFF2-40B4-BE49-F238E27FC236}">
                <a16:creationId xmlns:a16="http://schemas.microsoft.com/office/drawing/2014/main" id="{3281DEA4-E575-4776-965B-BC81796E53C9}"/>
              </a:ext>
            </a:extLst>
          </p:cNvPr>
          <p:cNvSpPr>
            <a:spLocks xmlns:a="http://schemas.openxmlformats.org/drawingml/2006/main" noGrp="1"/>
          </p:cNvSpPr>
          <p:nvPr/>
        </p:nvSpPr>
        <p:spPr>
          <a:xfrm xmlns:a="http://schemas.openxmlformats.org/drawingml/2006/main">
            <a:off x="4229100" y="243840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hardening and backlog documents approved</a:t>
            </a:r>
          </a:p>
        </p:txBody>
      </p:sp>
      <p:sp>
        <p:nvSpPr>
          <p:cNvPr id="9" name="">
            <a:extLst xmlns:a="http://schemas.openxmlformats.org/drawingml/2006/main">
              <a:ext uri="{FF2B5EF4-FFF2-40B4-BE49-F238E27FC236}">
                <a16:creationId xmlns:a16="http://schemas.microsoft.com/office/drawing/2014/main" id="{F400C081-C929-4578-8AE9-7E1AB4D0B0CB}"/>
              </a:ext>
            </a:extLst>
          </p:cNvPr>
          <p:cNvSpPr>
            <a:spLocks xmlns:a="http://schemas.openxmlformats.org/drawingml/2006/main" noGrp="1"/>
          </p:cNvSpPr>
          <p:nvPr/>
        </p:nvSpPr>
        <p:spPr>
          <a:xfrm xmlns:a="http://schemas.openxmlformats.org/drawingml/2006/main">
            <a:off x="7258050" y="1790700"/>
            <a:ext cx="3619500" cy="1123950"/>
          </a:xfrm>
          <a:prstGeom xmlns:a="http://schemas.openxmlformats.org/drawingml/2006/main" prst="roundRect">
            <a:avLst>
              <a:gd name="adj" fmla="val 6780"/>
            </a:avLst>
          </a:prstGeom>
          <a:solidFill xmlns:a="http://schemas.openxmlformats.org/drawingml/2006/main">
            <a:srgbClr val="FFFBEB"/>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5775415-287B-41AE-9614-6B8A07608B4D}"/>
              </a:ext>
            </a:extLst>
          </p:cNvPr>
          <p:cNvSpPr>
            <a:spLocks xmlns:a="http://schemas.openxmlformats.org/drawingml/2006/main" noGrp="1"/>
          </p:cNvSpPr>
          <p:nvPr/>
        </p:nvSpPr>
        <p:spPr>
          <a:xfrm xmlns:a="http://schemas.openxmlformats.org/drawingml/2006/main">
            <a:off x="7467600" y="196215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E9A00"/>
                </a:solidFill>
              </a:defRPr>
            </a:pPr>
            <a:r>
              <a:rPr sz="2850" b="1">
                <a:solidFill>
                  <a:srgbClr val="FE9A00"/>
                </a:solidFill>
              </a:rPr>
              <a:t>Ready</a:t>
            </a:r>
          </a:p>
        </p:txBody>
      </p:sp>
      <p:sp>
        <p:nvSpPr>
          <p:cNvPr id="11" name="">
            <a:extLst xmlns:a="http://schemas.openxmlformats.org/drawingml/2006/main">
              <a:ext uri="{FF2B5EF4-FFF2-40B4-BE49-F238E27FC236}">
                <a16:creationId xmlns:a16="http://schemas.microsoft.com/office/drawing/2014/main" id="{B55C2DA7-E74A-455C-BAA0-5B4B60327E36}"/>
              </a:ext>
            </a:extLst>
          </p:cNvPr>
          <p:cNvSpPr>
            <a:spLocks xmlns:a="http://schemas.openxmlformats.org/drawingml/2006/main" noGrp="1"/>
          </p:cNvSpPr>
          <p:nvPr/>
        </p:nvSpPr>
        <p:spPr>
          <a:xfrm xmlns:a="http://schemas.openxmlformats.org/drawingml/2006/main">
            <a:off x="7467600" y="24384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to start development in the approved order</a:t>
            </a:r>
          </a:p>
        </p:txBody>
      </p:sp>
      <p:sp>
        <p:nvSpPr>
          <p:cNvPr id="12" name="">
            <a:extLst xmlns:a="http://schemas.openxmlformats.org/drawingml/2006/main">
              <a:ext uri="{FF2B5EF4-FFF2-40B4-BE49-F238E27FC236}">
                <a16:creationId xmlns:a16="http://schemas.microsoft.com/office/drawing/2014/main" id="{9DDB3EA7-59F4-4A02-AF43-304399C3B4E8}"/>
              </a:ext>
            </a:extLst>
          </p:cNvPr>
          <p:cNvSpPr>
            <a:spLocks xmlns:a="http://schemas.openxmlformats.org/drawingml/2006/main" noGrp="1"/>
          </p:cNvSpPr>
          <p:nvPr/>
        </p:nvSpPr>
        <p:spPr>
          <a:xfrm xmlns:a="http://schemas.openxmlformats.org/drawingml/2006/main">
            <a:off x="781050" y="3409950"/>
            <a:ext cx="1009650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6682A80E-7894-4676-ABF3-AA8BE350DC99}"/>
              </a:ext>
            </a:extLst>
          </p:cNvPr>
          <p:cNvSpPr>
            <a:spLocks xmlns:a="http://schemas.openxmlformats.org/drawingml/2006/main" noGrp="1"/>
          </p:cNvSpPr>
          <p:nvPr/>
        </p:nvSpPr>
        <p:spPr>
          <a:xfrm xmlns:a="http://schemas.openxmlformats.org/drawingml/2006/main">
            <a:off x="1066800" y="36957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20618"/>
                </a:solidFill>
              </a:defRPr>
            </a:pPr>
            <a:r>
              <a:rPr sz="1800" b="1">
                <a:solidFill>
                  <a:srgbClr val="020618"/>
                </a:solidFill>
              </a:rPr>
              <a:t>Plain meaning</a:t>
            </a:r>
          </a:p>
        </p:txBody>
      </p:sp>
      <p:sp>
        <p:nvSpPr>
          <p:cNvPr id="14" name="">
            <a:extLst xmlns:a="http://schemas.openxmlformats.org/drawingml/2006/main">
              <a:ext uri="{FF2B5EF4-FFF2-40B4-BE49-F238E27FC236}">
                <a16:creationId xmlns:a16="http://schemas.microsoft.com/office/drawing/2014/main" id="{F83263B6-5113-4630-962F-E9A9A4C2E3B8}"/>
              </a:ext>
            </a:extLst>
          </p:cNvPr>
          <p:cNvSpPr>
            <a:spLocks xmlns:a="http://schemas.openxmlformats.org/drawingml/2006/main" noGrp="1"/>
          </p:cNvSpPr>
          <p:nvPr/>
        </p:nvSpPr>
        <p:spPr>
          <a:xfrm xmlns:a="http://schemas.openxmlformats.org/drawingml/2006/main">
            <a:off x="1066800" y="41338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14158"/>
                </a:solidFill>
              </a:defRPr>
            </a:pPr>
            <a:r>
              <a:rPr sz="1500" b="0">
                <a:solidFill>
                  <a:srgbClr val="314158"/>
                </a:solidFill>
              </a:rPr>
              <a:t>We are not building only a few HR screens. We are building the secure platform base plus the first HR operations: Core HR, Leave, Attendance, Payroll, and Reports. The design is configuration-led, tenant-safe, audited, and ready for future modules without changing the core.</a:t>
            </a:r>
          </a:p>
        </p:txBody>
      </p:sp>
      <p:sp>
        <p:nvSpPr>
          <p:cNvPr id="15" name="">
            <a:extLst xmlns:a="http://schemas.openxmlformats.org/drawingml/2006/main">
              <a:ext uri="{FF2B5EF4-FFF2-40B4-BE49-F238E27FC236}">
                <a16:creationId xmlns:a16="http://schemas.microsoft.com/office/drawing/2014/main" id="{BC09837B-0D60-4934-9710-DB78F944EF91}"/>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16" name="">
            <a:extLst xmlns:a="http://schemas.openxmlformats.org/drawingml/2006/main">
              <a:ext uri="{FF2B5EF4-FFF2-40B4-BE49-F238E27FC236}">
                <a16:creationId xmlns:a16="http://schemas.microsoft.com/office/drawing/2014/main" id="{47870D25-D217-403D-8A31-6AB3BB341CE5}"/>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02</a:t>
            </a:r>
          </a:p>
        </p:txBody>
      </p:sp>
    </p:spTree>
    <p:extLst>
      <p:ext uri="{BB962C8B-B14F-4D97-AF65-F5344CB8AC3E}">
        <p14:creationId xmlns:p14="http://schemas.microsoft.com/office/powerpoint/2010/main" val="25879373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6EDE0F-06E6-4F79-9394-26FEA8925F66}"/>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Who Phase 7A Is For</a:t>
            </a:r>
          </a:p>
        </p:txBody>
      </p:sp>
      <p:sp>
        <p:nvSpPr>
          <p:cNvPr id="2" name="">
            <a:extLst xmlns:a="http://schemas.openxmlformats.org/drawingml/2006/main">
              <a:ext uri="{FF2B5EF4-FFF2-40B4-BE49-F238E27FC236}">
                <a16:creationId xmlns:a16="http://schemas.microsoft.com/office/drawing/2014/main" id="{9CE33ED2-E5D3-4E37-94CD-0AFD2B6A5777}"/>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same foundation supports daily users, administrators, payroll teams, and auditors.</a:t>
            </a:r>
          </a:p>
        </p:txBody>
      </p:sp>
      <p:sp>
        <p:nvSpPr>
          <p:cNvPr id="3" name="">
            <a:extLst xmlns:a="http://schemas.openxmlformats.org/drawingml/2006/main">
              <a:ext uri="{FF2B5EF4-FFF2-40B4-BE49-F238E27FC236}">
                <a16:creationId xmlns:a16="http://schemas.microsoft.com/office/drawing/2014/main" id="{78E4D4CA-7C71-4569-BF14-289C14F6560B}"/>
              </a:ext>
            </a:extLst>
          </p:cNvPr>
          <p:cNvSpPr>
            <a:spLocks xmlns:a="http://schemas.openxmlformats.org/drawingml/2006/main" noGrp="1"/>
          </p:cNvSpPr>
          <p:nvPr/>
        </p:nvSpPr>
        <p:spPr>
          <a:xfrm xmlns:a="http://schemas.openxmlformats.org/drawingml/2006/main">
            <a:off x="704850" y="16192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998227ED-70E2-4041-A57B-74FA6AE43CE1}"/>
              </a:ext>
            </a:extLst>
          </p:cNvPr>
          <p:cNvSpPr>
            <a:spLocks xmlns:a="http://schemas.openxmlformats.org/drawingml/2006/main" noGrp="1"/>
          </p:cNvSpPr>
          <p:nvPr/>
        </p:nvSpPr>
        <p:spPr>
          <a:xfrm xmlns:a="http://schemas.openxmlformats.org/drawingml/2006/main">
            <a:off x="704850" y="1619250"/>
            <a:ext cx="76200" cy="1047750"/>
          </a:xfrm>
          <a:prstGeom xmlns:a="http://schemas.openxmlformats.org/drawingml/2006/main" prst="roundRect">
            <a:avLst>
              <a:gd name="adj" fmla="val 50000"/>
            </a:avLst>
          </a:prstGeom>
          <a:solidFill xmlns:a="http://schemas.openxmlformats.org/drawingml/2006/main">
            <a:srgbClr val="1447E6"/>
          </a:solidFill>
          <a:ln xmlns:a="http://schemas.openxmlformats.org/drawingml/2006/main" w="9525">
            <a:solidFill>
              <a:srgbClr val="1447E6"/>
            </a:solidFill>
            <a:prstDash val="solid"/>
          </a:ln>
        </p:spPr>
      </p:sp>
      <p:sp>
        <p:nvSpPr>
          <p:cNvPr id="5" name="">
            <a:extLst xmlns:a="http://schemas.openxmlformats.org/drawingml/2006/main">
              <a:ext uri="{FF2B5EF4-FFF2-40B4-BE49-F238E27FC236}">
                <a16:creationId xmlns:a16="http://schemas.microsoft.com/office/drawing/2014/main" id="{138C75F4-27F9-4277-B845-B0B37DF02940}"/>
              </a:ext>
            </a:extLst>
          </p:cNvPr>
          <p:cNvSpPr>
            <a:spLocks xmlns:a="http://schemas.openxmlformats.org/drawingml/2006/main" noGrp="1"/>
          </p:cNvSpPr>
          <p:nvPr/>
        </p:nvSpPr>
        <p:spPr>
          <a:xfrm xmlns:a="http://schemas.openxmlformats.org/drawingml/2006/main">
            <a:off x="914400" y="17907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Employees</a:t>
            </a:r>
          </a:p>
        </p:txBody>
      </p:sp>
      <p:sp>
        <p:nvSpPr>
          <p:cNvPr id="6" name="">
            <a:extLst xmlns:a="http://schemas.openxmlformats.org/drawingml/2006/main">
              <a:ext uri="{FF2B5EF4-FFF2-40B4-BE49-F238E27FC236}">
                <a16:creationId xmlns:a16="http://schemas.microsoft.com/office/drawing/2014/main" id="{192A8852-8323-4B7D-B12B-862854BE29C4}"/>
              </a:ext>
            </a:extLst>
          </p:cNvPr>
          <p:cNvSpPr>
            <a:spLocks xmlns:a="http://schemas.openxmlformats.org/drawingml/2006/main" noGrp="1"/>
          </p:cNvSpPr>
          <p:nvPr/>
        </p:nvSpPr>
        <p:spPr>
          <a:xfrm xmlns:a="http://schemas.openxmlformats.org/drawingml/2006/main">
            <a:off x="914400" y="20955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Use self-service for profile updates, leave, attendance, payslips, and requests.</a:t>
            </a:r>
          </a:p>
        </p:txBody>
      </p:sp>
      <p:sp>
        <p:nvSpPr>
          <p:cNvPr id="7" name="">
            <a:extLst xmlns:a="http://schemas.openxmlformats.org/drawingml/2006/main">
              <a:ext uri="{FF2B5EF4-FFF2-40B4-BE49-F238E27FC236}">
                <a16:creationId xmlns:a16="http://schemas.microsoft.com/office/drawing/2014/main" id="{8975D472-26FB-444A-A0B2-67E413AA96AF}"/>
              </a:ext>
            </a:extLst>
          </p:cNvPr>
          <p:cNvSpPr>
            <a:spLocks xmlns:a="http://schemas.openxmlformats.org/drawingml/2006/main" noGrp="1"/>
          </p:cNvSpPr>
          <p:nvPr/>
        </p:nvSpPr>
        <p:spPr>
          <a:xfrm xmlns:a="http://schemas.openxmlformats.org/drawingml/2006/main">
            <a:off x="6276975" y="16192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5800E96C-E9D6-4134-89EA-D6FB2F2A7B31}"/>
              </a:ext>
            </a:extLst>
          </p:cNvPr>
          <p:cNvSpPr>
            <a:spLocks xmlns:a="http://schemas.openxmlformats.org/drawingml/2006/main" noGrp="1"/>
          </p:cNvSpPr>
          <p:nvPr/>
        </p:nvSpPr>
        <p:spPr>
          <a:xfrm xmlns:a="http://schemas.openxmlformats.org/drawingml/2006/main">
            <a:off x="6276975" y="1619250"/>
            <a:ext cx="76200" cy="10477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9525">
            <a:solidFill>
              <a:srgbClr val="009966"/>
            </a:solidFill>
            <a:prstDash val="solid"/>
          </a:ln>
        </p:spPr>
      </p:sp>
      <p:sp>
        <p:nvSpPr>
          <p:cNvPr id="9" name="">
            <a:extLst xmlns:a="http://schemas.openxmlformats.org/drawingml/2006/main">
              <a:ext uri="{FF2B5EF4-FFF2-40B4-BE49-F238E27FC236}">
                <a16:creationId xmlns:a16="http://schemas.microsoft.com/office/drawing/2014/main" id="{8D0BAF4B-9B29-4118-8F50-844BAF58B6FD}"/>
              </a:ext>
            </a:extLst>
          </p:cNvPr>
          <p:cNvSpPr>
            <a:spLocks xmlns:a="http://schemas.openxmlformats.org/drawingml/2006/main" noGrp="1"/>
          </p:cNvSpPr>
          <p:nvPr/>
        </p:nvSpPr>
        <p:spPr>
          <a:xfrm xmlns:a="http://schemas.openxmlformats.org/drawingml/2006/main">
            <a:off x="6486525" y="17907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Managers</a:t>
            </a:r>
          </a:p>
        </p:txBody>
      </p:sp>
      <p:sp>
        <p:nvSpPr>
          <p:cNvPr id="10" name="">
            <a:extLst xmlns:a="http://schemas.openxmlformats.org/drawingml/2006/main">
              <a:ext uri="{FF2B5EF4-FFF2-40B4-BE49-F238E27FC236}">
                <a16:creationId xmlns:a16="http://schemas.microsoft.com/office/drawing/2014/main" id="{29E04441-BC5F-4282-8A32-93318785AD4F}"/>
              </a:ext>
            </a:extLst>
          </p:cNvPr>
          <p:cNvSpPr>
            <a:spLocks xmlns:a="http://schemas.openxmlformats.org/drawingml/2006/main" noGrp="1"/>
          </p:cNvSpPr>
          <p:nvPr/>
        </p:nvSpPr>
        <p:spPr>
          <a:xfrm xmlns:a="http://schemas.openxmlformats.org/drawingml/2006/main">
            <a:off x="6486525" y="20955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Approve leave and attendance changes, view team information, and track pending work.</a:t>
            </a:r>
          </a:p>
        </p:txBody>
      </p:sp>
      <p:sp>
        <p:nvSpPr>
          <p:cNvPr id="11" name="">
            <a:extLst xmlns:a="http://schemas.openxmlformats.org/drawingml/2006/main">
              <a:ext uri="{FF2B5EF4-FFF2-40B4-BE49-F238E27FC236}">
                <a16:creationId xmlns:a16="http://schemas.microsoft.com/office/drawing/2014/main" id="{034344C1-EC9C-4FDD-B6E9-8DD6324DE457}"/>
              </a:ext>
            </a:extLst>
          </p:cNvPr>
          <p:cNvSpPr>
            <a:spLocks xmlns:a="http://schemas.openxmlformats.org/drawingml/2006/main" noGrp="1"/>
          </p:cNvSpPr>
          <p:nvPr/>
        </p:nvSpPr>
        <p:spPr>
          <a:xfrm xmlns:a="http://schemas.openxmlformats.org/drawingml/2006/main">
            <a:off x="704850" y="29527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32E1B8D0-A77B-4590-AA81-E021AA0E0755}"/>
              </a:ext>
            </a:extLst>
          </p:cNvPr>
          <p:cNvSpPr>
            <a:spLocks xmlns:a="http://schemas.openxmlformats.org/drawingml/2006/main" noGrp="1"/>
          </p:cNvSpPr>
          <p:nvPr/>
        </p:nvSpPr>
        <p:spPr>
          <a:xfrm xmlns:a="http://schemas.openxmlformats.org/drawingml/2006/main">
            <a:off x="704850" y="2952750"/>
            <a:ext cx="76200" cy="10477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9525">
            <a:solidFill>
              <a:srgbClr val="FE9A00"/>
            </a:solidFill>
            <a:prstDash val="solid"/>
          </a:ln>
        </p:spPr>
      </p:sp>
      <p:sp>
        <p:nvSpPr>
          <p:cNvPr id="13" name="">
            <a:extLst xmlns:a="http://schemas.openxmlformats.org/drawingml/2006/main">
              <a:ext uri="{FF2B5EF4-FFF2-40B4-BE49-F238E27FC236}">
                <a16:creationId xmlns:a16="http://schemas.microsoft.com/office/drawing/2014/main" id="{AB001705-6041-4F5A-ACA6-21C5C10E09ED}"/>
              </a:ext>
            </a:extLst>
          </p:cNvPr>
          <p:cNvSpPr>
            <a:spLocks xmlns:a="http://schemas.openxmlformats.org/drawingml/2006/main" noGrp="1"/>
          </p:cNvSpPr>
          <p:nvPr/>
        </p:nvSpPr>
        <p:spPr>
          <a:xfrm xmlns:a="http://schemas.openxmlformats.org/drawingml/2006/main">
            <a:off x="914400" y="31242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HR Admins</a:t>
            </a:r>
          </a:p>
        </p:txBody>
      </p:sp>
      <p:sp>
        <p:nvSpPr>
          <p:cNvPr id="14" name="">
            <a:extLst xmlns:a="http://schemas.openxmlformats.org/drawingml/2006/main">
              <a:ext uri="{FF2B5EF4-FFF2-40B4-BE49-F238E27FC236}">
                <a16:creationId xmlns:a16="http://schemas.microsoft.com/office/drawing/2014/main" id="{D67E7C8E-690A-4AEC-A89A-CF26A37A8F09}"/>
              </a:ext>
            </a:extLst>
          </p:cNvPr>
          <p:cNvSpPr>
            <a:spLocks xmlns:a="http://schemas.openxmlformats.org/drawingml/2006/main" noGrp="1"/>
          </p:cNvSpPr>
          <p:nvPr/>
        </p:nvSpPr>
        <p:spPr>
          <a:xfrm xmlns:a="http://schemas.openxmlformats.org/drawingml/2006/main">
            <a:off x="914400" y="34290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Manage employees, policies, workflows, calendars, reports, and HR operations.</a:t>
            </a:r>
          </a:p>
        </p:txBody>
      </p:sp>
      <p:sp>
        <p:nvSpPr>
          <p:cNvPr id="15" name="">
            <a:extLst xmlns:a="http://schemas.openxmlformats.org/drawingml/2006/main">
              <a:ext uri="{FF2B5EF4-FFF2-40B4-BE49-F238E27FC236}">
                <a16:creationId xmlns:a16="http://schemas.microsoft.com/office/drawing/2014/main" id="{5AD38E75-3C71-430C-971F-63ED3FD97BC6}"/>
              </a:ext>
            </a:extLst>
          </p:cNvPr>
          <p:cNvSpPr>
            <a:spLocks xmlns:a="http://schemas.openxmlformats.org/drawingml/2006/main" noGrp="1"/>
          </p:cNvSpPr>
          <p:nvPr/>
        </p:nvSpPr>
        <p:spPr>
          <a:xfrm xmlns:a="http://schemas.openxmlformats.org/drawingml/2006/main">
            <a:off x="6276975" y="29527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39089E00-1EC6-4F03-AF30-CB4F553ED89A}"/>
              </a:ext>
            </a:extLst>
          </p:cNvPr>
          <p:cNvSpPr>
            <a:spLocks xmlns:a="http://schemas.openxmlformats.org/drawingml/2006/main" noGrp="1"/>
          </p:cNvSpPr>
          <p:nvPr/>
        </p:nvSpPr>
        <p:spPr>
          <a:xfrm xmlns:a="http://schemas.openxmlformats.org/drawingml/2006/main">
            <a:off x="6276975" y="2952750"/>
            <a:ext cx="76200" cy="1047750"/>
          </a:xfrm>
          <a:prstGeom xmlns:a="http://schemas.openxmlformats.org/drawingml/2006/main" prst="roundRect">
            <a:avLst>
              <a:gd name="adj" fmla="val 50000"/>
            </a:avLst>
          </a:prstGeom>
          <a:solidFill xmlns:a="http://schemas.openxmlformats.org/drawingml/2006/main">
            <a:srgbClr val="1447E6"/>
          </a:solidFill>
          <a:ln xmlns:a="http://schemas.openxmlformats.org/drawingml/2006/main" w="9525">
            <a:solidFill>
              <a:srgbClr val="1447E6"/>
            </a:solidFill>
            <a:prstDash val="solid"/>
          </a:ln>
        </p:spPr>
      </p:sp>
      <p:sp>
        <p:nvSpPr>
          <p:cNvPr id="17" name="">
            <a:extLst xmlns:a="http://schemas.openxmlformats.org/drawingml/2006/main">
              <a:ext uri="{FF2B5EF4-FFF2-40B4-BE49-F238E27FC236}">
                <a16:creationId xmlns:a16="http://schemas.microsoft.com/office/drawing/2014/main" id="{43F93341-D133-4F33-ADB1-4DE5FA3A981E}"/>
              </a:ext>
            </a:extLst>
          </p:cNvPr>
          <p:cNvSpPr>
            <a:spLocks xmlns:a="http://schemas.openxmlformats.org/drawingml/2006/main" noGrp="1"/>
          </p:cNvSpPr>
          <p:nvPr/>
        </p:nvSpPr>
        <p:spPr>
          <a:xfrm xmlns:a="http://schemas.openxmlformats.org/drawingml/2006/main">
            <a:off x="6486525" y="31242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Payroll Teams</a:t>
            </a:r>
          </a:p>
        </p:txBody>
      </p:sp>
      <p:sp>
        <p:nvSpPr>
          <p:cNvPr id="18" name="">
            <a:extLst xmlns:a="http://schemas.openxmlformats.org/drawingml/2006/main">
              <a:ext uri="{FF2B5EF4-FFF2-40B4-BE49-F238E27FC236}">
                <a16:creationId xmlns:a16="http://schemas.microsoft.com/office/drawing/2014/main" id="{36009514-E421-43E8-A39A-143B6A242A6C}"/>
              </a:ext>
            </a:extLst>
          </p:cNvPr>
          <p:cNvSpPr>
            <a:spLocks xmlns:a="http://schemas.openxmlformats.org/drawingml/2006/main" noGrp="1"/>
          </p:cNvSpPr>
          <p:nvPr/>
        </p:nvSpPr>
        <p:spPr>
          <a:xfrm xmlns:a="http://schemas.openxmlformats.org/drawingml/2006/main">
            <a:off x="6486525" y="34290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Run payroll, review exceptions, approve results, publish payslips, and handle compliance.</a:t>
            </a:r>
          </a:p>
        </p:txBody>
      </p:sp>
      <p:sp>
        <p:nvSpPr>
          <p:cNvPr id="19" name="">
            <a:extLst xmlns:a="http://schemas.openxmlformats.org/drawingml/2006/main">
              <a:ext uri="{FF2B5EF4-FFF2-40B4-BE49-F238E27FC236}">
                <a16:creationId xmlns:a16="http://schemas.microsoft.com/office/drawing/2014/main" id="{EFB6FEA2-5FBB-419A-98FA-D755DE699B6C}"/>
              </a:ext>
            </a:extLst>
          </p:cNvPr>
          <p:cNvSpPr>
            <a:spLocks xmlns:a="http://schemas.openxmlformats.org/drawingml/2006/main" noGrp="1"/>
          </p:cNvSpPr>
          <p:nvPr/>
        </p:nvSpPr>
        <p:spPr>
          <a:xfrm xmlns:a="http://schemas.openxmlformats.org/drawingml/2006/main">
            <a:off x="704850" y="42862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EF53418D-3995-44D8-B020-C3973111879E}"/>
              </a:ext>
            </a:extLst>
          </p:cNvPr>
          <p:cNvSpPr>
            <a:spLocks xmlns:a="http://schemas.openxmlformats.org/drawingml/2006/main" noGrp="1"/>
          </p:cNvSpPr>
          <p:nvPr/>
        </p:nvSpPr>
        <p:spPr>
          <a:xfrm xmlns:a="http://schemas.openxmlformats.org/drawingml/2006/main">
            <a:off x="704850" y="4286250"/>
            <a:ext cx="76200" cy="10477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9525">
            <a:solidFill>
              <a:srgbClr val="009966"/>
            </a:solidFill>
            <a:prstDash val="solid"/>
          </a:ln>
        </p:spPr>
      </p:sp>
      <p:sp>
        <p:nvSpPr>
          <p:cNvPr id="21" name="">
            <a:extLst xmlns:a="http://schemas.openxmlformats.org/drawingml/2006/main">
              <a:ext uri="{FF2B5EF4-FFF2-40B4-BE49-F238E27FC236}">
                <a16:creationId xmlns:a16="http://schemas.microsoft.com/office/drawing/2014/main" id="{2D83A253-FBED-41AD-876E-331A1249D9C2}"/>
              </a:ext>
            </a:extLst>
          </p:cNvPr>
          <p:cNvSpPr>
            <a:spLocks xmlns:a="http://schemas.openxmlformats.org/drawingml/2006/main" noGrp="1"/>
          </p:cNvSpPr>
          <p:nvPr/>
        </p:nvSpPr>
        <p:spPr>
          <a:xfrm xmlns:a="http://schemas.openxmlformats.org/drawingml/2006/main">
            <a:off x="914400" y="44577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Tenant Admins</a:t>
            </a:r>
          </a:p>
        </p:txBody>
      </p:sp>
      <p:sp>
        <p:nvSpPr>
          <p:cNvPr id="22" name="">
            <a:extLst xmlns:a="http://schemas.openxmlformats.org/drawingml/2006/main">
              <a:ext uri="{FF2B5EF4-FFF2-40B4-BE49-F238E27FC236}">
                <a16:creationId xmlns:a16="http://schemas.microsoft.com/office/drawing/2014/main" id="{4069AE45-2A36-447A-83C2-FDD9168A7D55}"/>
              </a:ext>
            </a:extLst>
          </p:cNvPr>
          <p:cNvSpPr>
            <a:spLocks xmlns:a="http://schemas.openxmlformats.org/drawingml/2006/main" noGrp="1"/>
          </p:cNvSpPr>
          <p:nvPr/>
        </p:nvSpPr>
        <p:spPr>
          <a:xfrm xmlns:a="http://schemas.openxmlformats.org/drawingml/2006/main">
            <a:off x="914400" y="47625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Control tenant configuration, security, feature flags, branding, and approvals.</a:t>
            </a:r>
          </a:p>
        </p:txBody>
      </p:sp>
      <p:sp>
        <p:nvSpPr>
          <p:cNvPr id="23" name="">
            <a:extLst xmlns:a="http://schemas.openxmlformats.org/drawingml/2006/main">
              <a:ext uri="{FF2B5EF4-FFF2-40B4-BE49-F238E27FC236}">
                <a16:creationId xmlns:a16="http://schemas.microsoft.com/office/drawing/2014/main" id="{3629A589-F28D-40EC-895F-4A76859AC711}"/>
              </a:ext>
            </a:extLst>
          </p:cNvPr>
          <p:cNvSpPr>
            <a:spLocks xmlns:a="http://schemas.openxmlformats.org/drawingml/2006/main" noGrp="1"/>
          </p:cNvSpPr>
          <p:nvPr/>
        </p:nvSpPr>
        <p:spPr>
          <a:xfrm xmlns:a="http://schemas.openxmlformats.org/drawingml/2006/main">
            <a:off x="6276975" y="4286250"/>
            <a:ext cx="519112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90E547E2-34D8-434A-943C-893B069197B5}"/>
              </a:ext>
            </a:extLst>
          </p:cNvPr>
          <p:cNvSpPr>
            <a:spLocks xmlns:a="http://schemas.openxmlformats.org/drawingml/2006/main" noGrp="1"/>
          </p:cNvSpPr>
          <p:nvPr/>
        </p:nvSpPr>
        <p:spPr>
          <a:xfrm xmlns:a="http://schemas.openxmlformats.org/drawingml/2006/main">
            <a:off x="6276975" y="4286250"/>
            <a:ext cx="76200" cy="10477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9525">
            <a:solidFill>
              <a:srgbClr val="FE9A00"/>
            </a:solidFill>
            <a:prstDash val="solid"/>
          </a:ln>
        </p:spPr>
      </p:sp>
      <p:sp>
        <p:nvSpPr>
          <p:cNvPr id="25" name="">
            <a:extLst xmlns:a="http://schemas.openxmlformats.org/drawingml/2006/main">
              <a:ext uri="{FF2B5EF4-FFF2-40B4-BE49-F238E27FC236}">
                <a16:creationId xmlns:a16="http://schemas.microsoft.com/office/drawing/2014/main" id="{175BB6FA-C6C9-4E17-A174-3CEE27611FBE}"/>
              </a:ext>
            </a:extLst>
          </p:cNvPr>
          <p:cNvSpPr>
            <a:spLocks xmlns:a="http://schemas.openxmlformats.org/drawingml/2006/main" noGrp="1"/>
          </p:cNvSpPr>
          <p:nvPr/>
        </p:nvSpPr>
        <p:spPr>
          <a:xfrm xmlns:a="http://schemas.openxmlformats.org/drawingml/2006/main">
            <a:off x="6486525" y="44577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Auditors and Security</a:t>
            </a:r>
          </a:p>
        </p:txBody>
      </p:sp>
      <p:sp>
        <p:nvSpPr>
          <p:cNvPr id="26" name="">
            <a:extLst xmlns:a="http://schemas.openxmlformats.org/drawingml/2006/main">
              <a:ext uri="{FF2B5EF4-FFF2-40B4-BE49-F238E27FC236}">
                <a16:creationId xmlns:a16="http://schemas.microsoft.com/office/drawing/2014/main" id="{32911005-604D-4D3F-A34E-B03861766AD9}"/>
              </a:ext>
            </a:extLst>
          </p:cNvPr>
          <p:cNvSpPr>
            <a:spLocks xmlns:a="http://schemas.openxmlformats.org/drawingml/2006/main" noGrp="1"/>
          </p:cNvSpPr>
          <p:nvPr/>
        </p:nvSpPr>
        <p:spPr>
          <a:xfrm xmlns:a="http://schemas.openxmlformats.org/drawingml/2006/main">
            <a:off x="6486525" y="4762500"/>
            <a:ext cx="4829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Review audit history, time-machine evidence, access controls, and exports.</a:t>
            </a:r>
          </a:p>
        </p:txBody>
      </p:sp>
      <p:sp>
        <p:nvSpPr>
          <p:cNvPr id="27" name="">
            <a:extLst xmlns:a="http://schemas.openxmlformats.org/drawingml/2006/main">
              <a:ext uri="{FF2B5EF4-FFF2-40B4-BE49-F238E27FC236}">
                <a16:creationId xmlns:a16="http://schemas.microsoft.com/office/drawing/2014/main" id="{1A3C1032-9CED-4877-BB2F-97ADC8F7DF4F}"/>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28" name="">
            <a:extLst xmlns:a="http://schemas.openxmlformats.org/drawingml/2006/main">
              <a:ext uri="{FF2B5EF4-FFF2-40B4-BE49-F238E27FC236}">
                <a16:creationId xmlns:a16="http://schemas.microsoft.com/office/drawing/2014/main" id="{A3B8CD9A-3756-4AD2-9E61-B331978CD163}"/>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03</a:t>
            </a:r>
          </a:p>
        </p:txBody>
      </p:sp>
    </p:spTree>
    <p:extLst>
      <p:ext uri="{BB962C8B-B14F-4D97-AF65-F5344CB8AC3E}">
        <p14:creationId xmlns:p14="http://schemas.microsoft.com/office/powerpoint/2010/main" val="1857979136"/>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E1ABC3-25FC-47DC-A50A-897A27A2AB37}"/>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What We Are Going To Develop</a:t>
            </a:r>
          </a:p>
        </p:txBody>
      </p:sp>
      <p:sp>
        <p:nvSpPr>
          <p:cNvPr id="2" name="">
            <a:extLst xmlns:a="http://schemas.openxmlformats.org/drawingml/2006/main">
              <a:ext uri="{FF2B5EF4-FFF2-40B4-BE49-F238E27FC236}">
                <a16:creationId xmlns:a16="http://schemas.microsoft.com/office/drawing/2014/main" id="{C6632597-54FC-4568-8C3E-441E500B0E07}"/>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approved scope is split into platform foundations and business modules.</a:t>
            </a:r>
          </a:p>
        </p:txBody>
      </p:sp>
      <p:sp>
        <p:nvSpPr>
          <p:cNvPr id="3" name="">
            <a:extLst xmlns:a="http://schemas.openxmlformats.org/drawingml/2006/main">
              <a:ext uri="{FF2B5EF4-FFF2-40B4-BE49-F238E27FC236}">
                <a16:creationId xmlns:a16="http://schemas.microsoft.com/office/drawing/2014/main" id="{A0E52F88-82BB-4A0F-B304-508C9D13DB1C}"/>
              </a:ext>
            </a:extLst>
          </p:cNvPr>
          <p:cNvSpPr>
            <a:spLocks xmlns:a="http://schemas.openxmlformats.org/drawingml/2006/main" noGrp="1"/>
          </p:cNvSpPr>
          <p:nvPr/>
        </p:nvSpPr>
        <p:spPr>
          <a:xfrm xmlns:a="http://schemas.openxmlformats.org/drawingml/2006/main">
            <a:off x="704850" y="1638300"/>
            <a:ext cx="509587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5F064E90-2F60-46FB-81FF-DAEEB8D12C44}"/>
              </a:ext>
            </a:extLst>
          </p:cNvPr>
          <p:cNvSpPr>
            <a:spLocks xmlns:a="http://schemas.openxmlformats.org/drawingml/2006/main" noGrp="1"/>
          </p:cNvSpPr>
          <p:nvPr/>
        </p:nvSpPr>
        <p:spPr>
          <a:xfrm xmlns:a="http://schemas.openxmlformats.org/drawingml/2006/main">
            <a:off x="876300" y="1790700"/>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Secure SaaS foundation</a:t>
            </a:r>
          </a:p>
        </p:txBody>
      </p:sp>
      <p:sp>
        <p:nvSpPr>
          <p:cNvPr id="5" name="">
            <a:extLst xmlns:a="http://schemas.openxmlformats.org/drawingml/2006/main">
              <a:ext uri="{FF2B5EF4-FFF2-40B4-BE49-F238E27FC236}">
                <a16:creationId xmlns:a16="http://schemas.microsoft.com/office/drawing/2014/main" id="{67F9AEF1-3DE2-4389-A7DD-09E14D6FD2AB}"/>
              </a:ext>
            </a:extLst>
          </p:cNvPr>
          <p:cNvSpPr>
            <a:spLocks xmlns:a="http://schemas.openxmlformats.org/drawingml/2006/main" noGrp="1"/>
          </p:cNvSpPr>
          <p:nvPr/>
        </p:nvSpPr>
        <p:spPr>
          <a:xfrm xmlns:a="http://schemas.openxmlformats.org/drawingml/2006/main">
            <a:off x="876300" y="2114550"/>
            <a:ext cx="47529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Tenant catalog, tenant context, row-level security, identity, RBAC, ABAC, sessions, feature flags, and audit.</a:t>
            </a:r>
          </a:p>
        </p:txBody>
      </p:sp>
      <p:sp>
        <p:nvSpPr>
          <p:cNvPr id="6" name="">
            <a:extLst xmlns:a="http://schemas.openxmlformats.org/drawingml/2006/main">
              <a:ext uri="{FF2B5EF4-FFF2-40B4-BE49-F238E27FC236}">
                <a16:creationId xmlns:a16="http://schemas.microsoft.com/office/drawing/2014/main" id="{943AF062-646A-4281-95CE-AAC6B0BFC997}"/>
              </a:ext>
            </a:extLst>
          </p:cNvPr>
          <p:cNvSpPr>
            <a:spLocks xmlns:a="http://schemas.openxmlformats.org/drawingml/2006/main" noGrp="1"/>
          </p:cNvSpPr>
          <p:nvPr/>
        </p:nvSpPr>
        <p:spPr>
          <a:xfrm xmlns:a="http://schemas.openxmlformats.org/drawingml/2006/main">
            <a:off x="6391275" y="1638300"/>
            <a:ext cx="509587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007C66B-7A29-4AE7-B2E8-25E77E27542E}"/>
              </a:ext>
            </a:extLst>
          </p:cNvPr>
          <p:cNvSpPr>
            <a:spLocks xmlns:a="http://schemas.openxmlformats.org/drawingml/2006/main" noGrp="1"/>
          </p:cNvSpPr>
          <p:nvPr/>
        </p:nvSpPr>
        <p:spPr>
          <a:xfrm xmlns:a="http://schemas.openxmlformats.org/drawingml/2006/main">
            <a:off x="6562725" y="1790700"/>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Configurable HR operations</a:t>
            </a:r>
          </a:p>
        </p:txBody>
      </p:sp>
      <p:sp>
        <p:nvSpPr>
          <p:cNvPr id="8" name="">
            <a:extLst xmlns:a="http://schemas.openxmlformats.org/drawingml/2006/main">
              <a:ext uri="{FF2B5EF4-FFF2-40B4-BE49-F238E27FC236}">
                <a16:creationId xmlns:a16="http://schemas.microsoft.com/office/drawing/2014/main" id="{11895480-98C7-4EB4-8D4D-02EF0A9D0781}"/>
              </a:ext>
            </a:extLst>
          </p:cNvPr>
          <p:cNvSpPr>
            <a:spLocks xmlns:a="http://schemas.openxmlformats.org/drawingml/2006/main" noGrp="1"/>
          </p:cNvSpPr>
          <p:nvPr/>
        </p:nvSpPr>
        <p:spPr>
          <a:xfrm xmlns:a="http://schemas.openxmlformats.org/drawingml/2006/main">
            <a:off x="6562725" y="2114550"/>
            <a:ext cx="47529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Effective dating, rule engine, workflow engine, forms/configuration-as-data, Core HR, employee self-service, and approvals.</a:t>
            </a:r>
          </a:p>
        </p:txBody>
      </p:sp>
      <p:sp>
        <p:nvSpPr>
          <p:cNvPr id="9" name="">
            <a:extLst xmlns:a="http://schemas.openxmlformats.org/drawingml/2006/main">
              <a:ext uri="{FF2B5EF4-FFF2-40B4-BE49-F238E27FC236}">
                <a16:creationId xmlns:a16="http://schemas.microsoft.com/office/drawing/2014/main" id="{D7BCFEE0-83BB-4A68-9B44-7FB4BFE2076B}"/>
              </a:ext>
            </a:extLst>
          </p:cNvPr>
          <p:cNvSpPr>
            <a:spLocks xmlns:a="http://schemas.openxmlformats.org/drawingml/2006/main" noGrp="1"/>
          </p:cNvSpPr>
          <p:nvPr/>
        </p:nvSpPr>
        <p:spPr>
          <a:xfrm xmlns:a="http://schemas.openxmlformats.org/drawingml/2006/main">
            <a:off x="704850" y="3429000"/>
            <a:ext cx="509587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759601E8-051A-468B-991B-76514B206C9D}"/>
              </a:ext>
            </a:extLst>
          </p:cNvPr>
          <p:cNvSpPr>
            <a:spLocks xmlns:a="http://schemas.openxmlformats.org/drawingml/2006/main" noGrp="1"/>
          </p:cNvSpPr>
          <p:nvPr/>
        </p:nvSpPr>
        <p:spPr>
          <a:xfrm xmlns:a="http://schemas.openxmlformats.org/drawingml/2006/main">
            <a:off x="876300" y="3581400"/>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Time, leave, and payroll</a:t>
            </a:r>
          </a:p>
        </p:txBody>
      </p:sp>
      <p:sp>
        <p:nvSpPr>
          <p:cNvPr id="11" name="">
            <a:extLst xmlns:a="http://schemas.openxmlformats.org/drawingml/2006/main">
              <a:ext uri="{FF2B5EF4-FFF2-40B4-BE49-F238E27FC236}">
                <a16:creationId xmlns:a16="http://schemas.microsoft.com/office/drawing/2014/main" id="{B058694D-CE51-4DD0-AF53-5E5D4D49C2AC}"/>
              </a:ext>
            </a:extLst>
          </p:cNvPr>
          <p:cNvSpPr>
            <a:spLocks xmlns:a="http://schemas.openxmlformats.org/drawingml/2006/main" noGrp="1"/>
          </p:cNvSpPr>
          <p:nvPr/>
        </p:nvSpPr>
        <p:spPr>
          <a:xfrm xmlns:a="http://schemas.openxmlformats.org/drawingml/2006/main">
            <a:off x="876300" y="3905250"/>
            <a:ext cx="47529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Leave policies, attendance capture, first connector framework, payroll calculation, payslips, and India compliance foundation.</a:t>
            </a:r>
          </a:p>
        </p:txBody>
      </p:sp>
      <p:sp>
        <p:nvSpPr>
          <p:cNvPr id="12" name="">
            <a:extLst xmlns:a="http://schemas.openxmlformats.org/drawingml/2006/main">
              <a:ext uri="{FF2B5EF4-FFF2-40B4-BE49-F238E27FC236}">
                <a16:creationId xmlns:a16="http://schemas.microsoft.com/office/drawing/2014/main" id="{9E8CE6E7-47CA-4CA1-B1F0-1BAB17BFFAAB}"/>
              </a:ext>
            </a:extLst>
          </p:cNvPr>
          <p:cNvSpPr>
            <a:spLocks xmlns:a="http://schemas.openxmlformats.org/drawingml/2006/main" noGrp="1"/>
          </p:cNvSpPr>
          <p:nvPr/>
        </p:nvSpPr>
        <p:spPr>
          <a:xfrm xmlns:a="http://schemas.openxmlformats.org/drawingml/2006/main">
            <a:off x="6391275" y="3429000"/>
            <a:ext cx="509587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DFFAAF8F-87DC-4613-BBC1-9010F33B3411}"/>
              </a:ext>
            </a:extLst>
          </p:cNvPr>
          <p:cNvSpPr>
            <a:spLocks xmlns:a="http://schemas.openxmlformats.org/drawingml/2006/main" noGrp="1"/>
          </p:cNvSpPr>
          <p:nvPr/>
        </p:nvSpPr>
        <p:spPr>
          <a:xfrm xmlns:a="http://schemas.openxmlformats.org/drawingml/2006/main">
            <a:off x="6562725" y="3581400"/>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Reports and release controls</a:t>
            </a:r>
          </a:p>
        </p:txBody>
      </p:sp>
      <p:sp>
        <p:nvSpPr>
          <p:cNvPr id="14" name="">
            <a:extLst xmlns:a="http://schemas.openxmlformats.org/drawingml/2006/main">
              <a:ext uri="{FF2B5EF4-FFF2-40B4-BE49-F238E27FC236}">
                <a16:creationId xmlns:a16="http://schemas.microsoft.com/office/drawing/2014/main" id="{2E166CF8-6CCA-4343-BF54-4F99D27F2B3E}"/>
              </a:ext>
            </a:extLst>
          </p:cNvPr>
          <p:cNvSpPr>
            <a:spLocks xmlns:a="http://schemas.openxmlformats.org/drawingml/2006/main" noGrp="1"/>
          </p:cNvSpPr>
          <p:nvPr/>
        </p:nvSpPr>
        <p:spPr>
          <a:xfrm xmlns:a="http://schemas.openxmlformats.org/drawingml/2006/main">
            <a:off x="6562725" y="3905250"/>
            <a:ext cx="47529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Standard reports, secure exports, operational dashboards, test coverage, OpenAPI, performance, and release readiness.</a:t>
            </a:r>
          </a:p>
        </p:txBody>
      </p:sp>
      <p:sp>
        <p:nvSpPr>
          <p:cNvPr id="15" name="">
            <a:extLst xmlns:a="http://schemas.openxmlformats.org/drawingml/2006/main">
              <a:ext uri="{FF2B5EF4-FFF2-40B4-BE49-F238E27FC236}">
                <a16:creationId xmlns:a16="http://schemas.microsoft.com/office/drawing/2014/main" id="{8E3D55F9-B249-42A4-8B60-B5A6136CF9E2}"/>
              </a:ext>
            </a:extLst>
          </p:cNvPr>
          <p:cNvSpPr>
            <a:spLocks xmlns:a="http://schemas.openxmlformats.org/drawingml/2006/main" noGrp="1"/>
          </p:cNvSpPr>
          <p:nvPr/>
        </p:nvSpPr>
        <p:spPr>
          <a:xfrm xmlns:a="http://schemas.openxmlformats.org/drawingml/2006/main">
            <a:off x="704850" y="5295900"/>
            <a:ext cx="10782300" cy="552450"/>
          </a:xfrm>
          <a:prstGeom xmlns:a="http://schemas.openxmlformats.org/drawingml/2006/main" prst="roundRect">
            <a:avLst>
              <a:gd name="adj" fmla="val 13793"/>
            </a:avLst>
          </a:prstGeom>
          <a:solidFill xmlns:a="http://schemas.openxmlformats.org/drawingml/2006/main">
            <a:srgbClr val="F1F5F9"/>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267A09FF-4852-4DF9-A890-20231B081150}"/>
              </a:ext>
            </a:extLst>
          </p:cNvPr>
          <p:cNvSpPr>
            <a:spLocks xmlns:a="http://schemas.openxmlformats.org/drawingml/2006/main" noGrp="1"/>
          </p:cNvSpPr>
          <p:nvPr/>
        </p:nvSpPr>
        <p:spPr>
          <a:xfrm xmlns:a="http://schemas.openxmlformats.org/drawingml/2006/main">
            <a:off x="990600" y="5448300"/>
            <a:ext cx="1017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20618"/>
                </a:solidFill>
              </a:defRPr>
            </a:pPr>
            <a:r>
              <a:rPr sz="1425" b="1">
                <a:solidFill>
                  <a:srgbClr val="020618"/>
                </a:solidFill>
              </a:rPr>
              <a:t>Important rule: Phase 7A is delivered in order. Later modules do not start before their required foundation is completed.</a:t>
            </a:r>
          </a:p>
        </p:txBody>
      </p:sp>
      <p:sp>
        <p:nvSpPr>
          <p:cNvPr id="17" name="">
            <a:extLst xmlns:a="http://schemas.openxmlformats.org/drawingml/2006/main">
              <a:ext uri="{FF2B5EF4-FFF2-40B4-BE49-F238E27FC236}">
                <a16:creationId xmlns:a16="http://schemas.microsoft.com/office/drawing/2014/main" id="{3E90EB91-3246-486F-BCD5-34C4978BA6FB}"/>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18" name="">
            <a:extLst xmlns:a="http://schemas.openxmlformats.org/drawingml/2006/main">
              <a:ext uri="{FF2B5EF4-FFF2-40B4-BE49-F238E27FC236}">
                <a16:creationId xmlns:a16="http://schemas.microsoft.com/office/drawing/2014/main" id="{FFCBBEF0-AABE-456E-8F56-9D1CA5AF7FC4}"/>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04</a:t>
            </a:r>
          </a:p>
        </p:txBody>
      </p:sp>
    </p:spTree>
    <p:extLst>
      <p:ext uri="{BB962C8B-B14F-4D97-AF65-F5344CB8AC3E}">
        <p14:creationId xmlns:p14="http://schemas.microsoft.com/office/powerpoint/2010/main" val="159255129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EC98E6-9888-431A-8891-7ADE3937F541}"/>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How Users Will Operate It</a:t>
            </a:r>
          </a:p>
        </p:txBody>
      </p:sp>
      <p:sp>
        <p:nvSpPr>
          <p:cNvPr id="2" name="">
            <a:extLst xmlns:a="http://schemas.openxmlformats.org/drawingml/2006/main">
              <a:ext uri="{FF2B5EF4-FFF2-40B4-BE49-F238E27FC236}">
                <a16:creationId xmlns:a16="http://schemas.microsoft.com/office/drawing/2014/main" id="{80E16946-7E03-422E-BD00-95388A62DD21}"/>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product flow is designed to be understandable for business users and enforceable for technical teams.</a:t>
            </a:r>
          </a:p>
        </p:txBody>
      </p:sp>
      <p:sp>
        <p:nvSpPr>
          <p:cNvPr id="3" name="">
            <a:extLst xmlns:a="http://schemas.openxmlformats.org/drawingml/2006/main">
              <a:ext uri="{FF2B5EF4-FFF2-40B4-BE49-F238E27FC236}">
                <a16:creationId xmlns:a16="http://schemas.microsoft.com/office/drawing/2014/main" id="{66ABBCD6-8702-4843-9D94-308685D1B04E}"/>
              </a:ext>
            </a:extLst>
          </p:cNvPr>
          <p:cNvSpPr>
            <a:spLocks xmlns:a="http://schemas.openxmlformats.org/drawingml/2006/main" noGrp="1"/>
          </p:cNvSpPr>
          <p:nvPr/>
        </p:nvSpPr>
        <p:spPr>
          <a:xfrm xmlns:a="http://schemas.openxmlformats.org/drawingml/2006/main">
            <a:off x="723900" y="161925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91851840-347E-4F11-8C4B-993F80AB095B}"/>
              </a:ext>
            </a:extLst>
          </p:cNvPr>
          <p:cNvSpPr>
            <a:spLocks xmlns:a="http://schemas.openxmlformats.org/drawingml/2006/main" noGrp="1"/>
          </p:cNvSpPr>
          <p:nvPr/>
        </p:nvSpPr>
        <p:spPr>
          <a:xfrm xmlns:a="http://schemas.openxmlformats.org/drawingml/2006/main">
            <a:off x="876300" y="1790700"/>
            <a:ext cx="342900" cy="342900"/>
          </a:xfrm>
          <a:prstGeom xmlns:a="http://schemas.openxmlformats.org/drawingml/2006/main" prst="roundRect">
            <a:avLst>
              <a:gd name="adj" fmla="val 50000"/>
            </a:avLst>
          </a:prstGeom>
          <a:solidFill xmlns:a="http://schemas.openxmlformats.org/drawingml/2006/main">
            <a:srgbClr val="1447E6"/>
          </a:solidFill>
          <a:ln xmlns:a="http://schemas.openxmlformats.org/drawingml/2006/main" w="9525">
            <a:solidFill>
              <a:srgbClr val="1447E6"/>
            </a:solidFill>
            <a:prstDash val="solid"/>
          </a:ln>
        </p:spPr>
      </p:sp>
      <p:sp>
        <p:nvSpPr>
          <p:cNvPr id="5" name="">
            <a:extLst xmlns:a="http://schemas.openxmlformats.org/drawingml/2006/main">
              <a:ext uri="{FF2B5EF4-FFF2-40B4-BE49-F238E27FC236}">
                <a16:creationId xmlns:a16="http://schemas.microsoft.com/office/drawing/2014/main" id="{625CBE66-25F5-4E4F-A63D-05612DBF47A9}"/>
              </a:ext>
            </a:extLst>
          </p:cNvPr>
          <p:cNvSpPr>
            <a:spLocks xmlns:a="http://schemas.openxmlformats.org/drawingml/2006/main" noGrp="1"/>
          </p:cNvSpPr>
          <p:nvPr/>
        </p:nvSpPr>
        <p:spPr>
          <a:xfrm xmlns:a="http://schemas.openxmlformats.org/drawingml/2006/main">
            <a:off x="876300" y="18383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6" name="">
            <a:extLst xmlns:a="http://schemas.openxmlformats.org/drawingml/2006/main">
              <a:ext uri="{FF2B5EF4-FFF2-40B4-BE49-F238E27FC236}">
                <a16:creationId xmlns:a16="http://schemas.microsoft.com/office/drawing/2014/main" id="{F6DE53D9-A2ED-470A-8740-9D081A9DB3EE}"/>
              </a:ext>
            </a:extLst>
          </p:cNvPr>
          <p:cNvSpPr>
            <a:spLocks xmlns:a="http://schemas.openxmlformats.org/drawingml/2006/main" noGrp="1"/>
          </p:cNvSpPr>
          <p:nvPr/>
        </p:nvSpPr>
        <p:spPr>
          <a:xfrm xmlns:a="http://schemas.openxmlformats.org/drawingml/2006/main">
            <a:off x="1333500" y="1790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Configure</a:t>
            </a:r>
          </a:p>
        </p:txBody>
      </p:sp>
      <p:sp>
        <p:nvSpPr>
          <p:cNvPr id="7" name="">
            <a:extLst xmlns:a="http://schemas.openxmlformats.org/drawingml/2006/main">
              <a:ext uri="{FF2B5EF4-FFF2-40B4-BE49-F238E27FC236}">
                <a16:creationId xmlns:a16="http://schemas.microsoft.com/office/drawing/2014/main" id="{5FC8CCAA-B856-4436-A558-4531C10C282C}"/>
              </a:ext>
            </a:extLst>
          </p:cNvPr>
          <p:cNvSpPr>
            <a:spLocks xmlns:a="http://schemas.openxmlformats.org/drawingml/2006/main" noGrp="1"/>
          </p:cNvSpPr>
          <p:nvPr/>
        </p:nvSpPr>
        <p:spPr>
          <a:xfrm xmlns:a="http://schemas.openxmlformats.org/drawingml/2006/main">
            <a:off x="1333500" y="21145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Admin sets policy, workflow, roles, calendar, and rules.</a:t>
            </a:r>
          </a:p>
        </p:txBody>
      </p:sp>
      <p:sp>
        <p:nvSpPr>
          <p:cNvPr id="8" name="">
            <a:extLst xmlns:a="http://schemas.openxmlformats.org/drawingml/2006/main">
              <a:ext uri="{FF2B5EF4-FFF2-40B4-BE49-F238E27FC236}">
                <a16:creationId xmlns:a16="http://schemas.microsoft.com/office/drawing/2014/main" id="{A7FDEF42-E581-4F10-BA87-7F9F2C5A7196}"/>
              </a:ext>
            </a:extLst>
          </p:cNvPr>
          <p:cNvSpPr>
            <a:spLocks xmlns:a="http://schemas.openxmlformats.org/drawingml/2006/main" noGrp="1"/>
          </p:cNvSpPr>
          <p:nvPr/>
        </p:nvSpPr>
        <p:spPr>
          <a:xfrm xmlns:a="http://schemas.openxmlformats.org/drawingml/2006/main">
            <a:off x="4438650" y="161925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C9DA8A8B-2F4E-4814-A5C0-313CB82D936C}"/>
              </a:ext>
            </a:extLst>
          </p:cNvPr>
          <p:cNvSpPr>
            <a:spLocks xmlns:a="http://schemas.openxmlformats.org/drawingml/2006/main" noGrp="1"/>
          </p:cNvSpPr>
          <p:nvPr/>
        </p:nvSpPr>
        <p:spPr>
          <a:xfrm xmlns:a="http://schemas.openxmlformats.org/drawingml/2006/main">
            <a:off x="4591050" y="1790700"/>
            <a:ext cx="342900" cy="34290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9525">
            <a:solidFill>
              <a:srgbClr val="009966"/>
            </a:solidFill>
            <a:prstDash val="solid"/>
          </a:ln>
        </p:spPr>
      </p:sp>
      <p:sp>
        <p:nvSpPr>
          <p:cNvPr id="10" name="">
            <a:extLst xmlns:a="http://schemas.openxmlformats.org/drawingml/2006/main">
              <a:ext uri="{FF2B5EF4-FFF2-40B4-BE49-F238E27FC236}">
                <a16:creationId xmlns:a16="http://schemas.microsoft.com/office/drawing/2014/main" id="{3726FE13-4166-4EF6-A8BF-5B36A48147FF}"/>
              </a:ext>
            </a:extLst>
          </p:cNvPr>
          <p:cNvSpPr>
            <a:spLocks xmlns:a="http://schemas.openxmlformats.org/drawingml/2006/main" noGrp="1"/>
          </p:cNvSpPr>
          <p:nvPr/>
        </p:nvSpPr>
        <p:spPr>
          <a:xfrm xmlns:a="http://schemas.openxmlformats.org/drawingml/2006/main">
            <a:off x="4591050" y="18383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1" name="">
            <a:extLst xmlns:a="http://schemas.openxmlformats.org/drawingml/2006/main">
              <a:ext uri="{FF2B5EF4-FFF2-40B4-BE49-F238E27FC236}">
                <a16:creationId xmlns:a16="http://schemas.microsoft.com/office/drawing/2014/main" id="{BA7CB9BB-8FBB-41F9-B1B9-D92D9069A163}"/>
              </a:ext>
            </a:extLst>
          </p:cNvPr>
          <p:cNvSpPr>
            <a:spLocks xmlns:a="http://schemas.openxmlformats.org/drawingml/2006/main" noGrp="1"/>
          </p:cNvSpPr>
          <p:nvPr/>
        </p:nvSpPr>
        <p:spPr>
          <a:xfrm xmlns:a="http://schemas.openxmlformats.org/drawingml/2006/main">
            <a:off x="5048250" y="1790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Request</a:t>
            </a:r>
          </a:p>
        </p:txBody>
      </p:sp>
      <p:sp>
        <p:nvSpPr>
          <p:cNvPr id="12" name="">
            <a:extLst xmlns:a="http://schemas.openxmlformats.org/drawingml/2006/main">
              <a:ext uri="{FF2B5EF4-FFF2-40B4-BE49-F238E27FC236}">
                <a16:creationId xmlns:a16="http://schemas.microsoft.com/office/drawing/2014/main" id="{4D821DDC-7CB5-4A9D-94C1-897A655AF427}"/>
              </a:ext>
            </a:extLst>
          </p:cNvPr>
          <p:cNvSpPr>
            <a:spLocks xmlns:a="http://schemas.openxmlformats.org/drawingml/2006/main" noGrp="1"/>
          </p:cNvSpPr>
          <p:nvPr/>
        </p:nvSpPr>
        <p:spPr>
          <a:xfrm xmlns:a="http://schemas.openxmlformats.org/drawingml/2006/main">
            <a:off x="5048250" y="21145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Employee or HR submits leave, correction, profile, or payroll action.</a:t>
            </a:r>
          </a:p>
        </p:txBody>
      </p:sp>
      <p:sp>
        <p:nvSpPr>
          <p:cNvPr id="13" name="">
            <a:extLst xmlns:a="http://schemas.openxmlformats.org/drawingml/2006/main">
              <a:ext uri="{FF2B5EF4-FFF2-40B4-BE49-F238E27FC236}">
                <a16:creationId xmlns:a16="http://schemas.microsoft.com/office/drawing/2014/main" id="{4442E885-EAD3-4C15-8E97-A7773FAEE47D}"/>
              </a:ext>
            </a:extLst>
          </p:cNvPr>
          <p:cNvSpPr>
            <a:spLocks xmlns:a="http://schemas.openxmlformats.org/drawingml/2006/main" noGrp="1"/>
          </p:cNvSpPr>
          <p:nvPr/>
        </p:nvSpPr>
        <p:spPr>
          <a:xfrm xmlns:a="http://schemas.openxmlformats.org/drawingml/2006/main">
            <a:off x="8153400" y="161925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4C67DCCC-601E-43A5-9914-1CC86A88F31F}"/>
              </a:ext>
            </a:extLst>
          </p:cNvPr>
          <p:cNvSpPr>
            <a:spLocks xmlns:a="http://schemas.openxmlformats.org/drawingml/2006/main" noGrp="1"/>
          </p:cNvSpPr>
          <p:nvPr/>
        </p:nvSpPr>
        <p:spPr>
          <a:xfrm xmlns:a="http://schemas.openxmlformats.org/drawingml/2006/main">
            <a:off x="8305800" y="1790700"/>
            <a:ext cx="342900" cy="34290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9525">
            <a:solidFill>
              <a:srgbClr val="FE9A00"/>
            </a:solidFill>
            <a:prstDash val="solid"/>
          </a:ln>
        </p:spPr>
      </p:sp>
      <p:sp>
        <p:nvSpPr>
          <p:cNvPr id="15" name="">
            <a:extLst xmlns:a="http://schemas.openxmlformats.org/drawingml/2006/main">
              <a:ext uri="{FF2B5EF4-FFF2-40B4-BE49-F238E27FC236}">
                <a16:creationId xmlns:a16="http://schemas.microsoft.com/office/drawing/2014/main" id="{DFD5C96D-94B4-44A2-BB06-91EB0E130999}"/>
              </a:ext>
            </a:extLst>
          </p:cNvPr>
          <p:cNvSpPr>
            <a:spLocks xmlns:a="http://schemas.openxmlformats.org/drawingml/2006/main" noGrp="1"/>
          </p:cNvSpPr>
          <p:nvPr/>
        </p:nvSpPr>
        <p:spPr>
          <a:xfrm xmlns:a="http://schemas.openxmlformats.org/drawingml/2006/main">
            <a:off x="8305800" y="18383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6" name="">
            <a:extLst xmlns:a="http://schemas.openxmlformats.org/drawingml/2006/main">
              <a:ext uri="{FF2B5EF4-FFF2-40B4-BE49-F238E27FC236}">
                <a16:creationId xmlns:a16="http://schemas.microsoft.com/office/drawing/2014/main" id="{19F72B02-D0B9-4E2D-9054-AD62BFC22BBA}"/>
              </a:ext>
            </a:extLst>
          </p:cNvPr>
          <p:cNvSpPr>
            <a:spLocks xmlns:a="http://schemas.openxmlformats.org/drawingml/2006/main" noGrp="1"/>
          </p:cNvSpPr>
          <p:nvPr/>
        </p:nvSpPr>
        <p:spPr>
          <a:xfrm xmlns:a="http://schemas.openxmlformats.org/drawingml/2006/main">
            <a:off x="8763000" y="1790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Approve</a:t>
            </a:r>
          </a:p>
        </p:txBody>
      </p:sp>
      <p:sp>
        <p:nvSpPr>
          <p:cNvPr id="17" name="">
            <a:extLst xmlns:a="http://schemas.openxmlformats.org/drawingml/2006/main">
              <a:ext uri="{FF2B5EF4-FFF2-40B4-BE49-F238E27FC236}">
                <a16:creationId xmlns:a16="http://schemas.microsoft.com/office/drawing/2014/main" id="{DC0D845B-42A6-4FE0-B851-117113437765}"/>
              </a:ext>
            </a:extLst>
          </p:cNvPr>
          <p:cNvSpPr>
            <a:spLocks xmlns:a="http://schemas.openxmlformats.org/drawingml/2006/main" noGrp="1"/>
          </p:cNvSpPr>
          <p:nvPr/>
        </p:nvSpPr>
        <p:spPr>
          <a:xfrm xmlns:a="http://schemas.openxmlformats.org/drawingml/2006/main">
            <a:off x="8763000" y="21145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Workflow routes the task to the right manager or HR role.</a:t>
            </a:r>
          </a:p>
        </p:txBody>
      </p:sp>
      <p:sp>
        <p:nvSpPr>
          <p:cNvPr id="18" name="">
            <a:extLst xmlns:a="http://schemas.openxmlformats.org/drawingml/2006/main">
              <a:ext uri="{FF2B5EF4-FFF2-40B4-BE49-F238E27FC236}">
                <a16:creationId xmlns:a16="http://schemas.microsoft.com/office/drawing/2014/main" id="{D9AF30FF-7E9F-4B37-B007-2AF02C1306FC}"/>
              </a:ext>
            </a:extLst>
          </p:cNvPr>
          <p:cNvSpPr>
            <a:spLocks xmlns:a="http://schemas.openxmlformats.org/drawingml/2006/main" noGrp="1"/>
          </p:cNvSpPr>
          <p:nvPr/>
        </p:nvSpPr>
        <p:spPr>
          <a:xfrm xmlns:a="http://schemas.openxmlformats.org/drawingml/2006/main">
            <a:off x="723900" y="323850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5F0D8148-EC7B-48BF-B0A6-685DC62C3E1D}"/>
              </a:ext>
            </a:extLst>
          </p:cNvPr>
          <p:cNvSpPr>
            <a:spLocks xmlns:a="http://schemas.openxmlformats.org/drawingml/2006/main" noGrp="1"/>
          </p:cNvSpPr>
          <p:nvPr/>
        </p:nvSpPr>
        <p:spPr>
          <a:xfrm xmlns:a="http://schemas.openxmlformats.org/drawingml/2006/main">
            <a:off x="876300" y="3409950"/>
            <a:ext cx="342900" cy="342900"/>
          </a:xfrm>
          <a:prstGeom xmlns:a="http://schemas.openxmlformats.org/drawingml/2006/main" prst="roundRect">
            <a:avLst>
              <a:gd name="adj" fmla="val 50000"/>
            </a:avLst>
          </a:prstGeom>
          <a:solidFill xmlns:a="http://schemas.openxmlformats.org/drawingml/2006/main">
            <a:srgbClr val="1447E6"/>
          </a:solidFill>
          <a:ln xmlns:a="http://schemas.openxmlformats.org/drawingml/2006/main" w="9525">
            <a:solidFill>
              <a:srgbClr val="1447E6"/>
            </a:solidFill>
            <a:prstDash val="solid"/>
          </a:ln>
        </p:spPr>
      </p:sp>
      <p:sp>
        <p:nvSpPr>
          <p:cNvPr id="20" name="">
            <a:extLst xmlns:a="http://schemas.openxmlformats.org/drawingml/2006/main">
              <a:ext uri="{FF2B5EF4-FFF2-40B4-BE49-F238E27FC236}">
                <a16:creationId xmlns:a16="http://schemas.microsoft.com/office/drawing/2014/main" id="{0357C050-CAF5-4119-B7A6-598363208460}"/>
              </a:ext>
            </a:extLst>
          </p:cNvPr>
          <p:cNvSpPr>
            <a:spLocks xmlns:a="http://schemas.openxmlformats.org/drawingml/2006/main" noGrp="1"/>
          </p:cNvSpPr>
          <p:nvPr/>
        </p:nvSpPr>
        <p:spPr>
          <a:xfrm xmlns:a="http://schemas.openxmlformats.org/drawingml/2006/main">
            <a:off x="876300" y="34575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1" name="">
            <a:extLst xmlns:a="http://schemas.openxmlformats.org/drawingml/2006/main">
              <a:ext uri="{FF2B5EF4-FFF2-40B4-BE49-F238E27FC236}">
                <a16:creationId xmlns:a16="http://schemas.microsoft.com/office/drawing/2014/main" id="{39A07C7E-4951-40A9-AA1D-0F7BEE314068}"/>
              </a:ext>
            </a:extLst>
          </p:cNvPr>
          <p:cNvSpPr>
            <a:spLocks xmlns:a="http://schemas.openxmlformats.org/drawingml/2006/main" noGrp="1"/>
          </p:cNvSpPr>
          <p:nvPr/>
        </p:nvSpPr>
        <p:spPr>
          <a:xfrm xmlns:a="http://schemas.openxmlformats.org/drawingml/2006/main">
            <a:off x="1333500" y="34099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Calculate</a:t>
            </a:r>
          </a:p>
        </p:txBody>
      </p:sp>
      <p:sp>
        <p:nvSpPr>
          <p:cNvPr id="22" name="">
            <a:extLst xmlns:a="http://schemas.openxmlformats.org/drawingml/2006/main">
              <a:ext uri="{FF2B5EF4-FFF2-40B4-BE49-F238E27FC236}">
                <a16:creationId xmlns:a16="http://schemas.microsoft.com/office/drawing/2014/main" id="{75491A4D-24EE-46A5-8EC6-B07161F1DB46}"/>
              </a:ext>
            </a:extLst>
          </p:cNvPr>
          <p:cNvSpPr>
            <a:spLocks xmlns:a="http://schemas.openxmlformats.org/drawingml/2006/main" noGrp="1"/>
          </p:cNvSpPr>
          <p:nvPr/>
        </p:nvSpPr>
        <p:spPr>
          <a:xfrm xmlns:a="http://schemas.openxmlformats.org/drawingml/2006/main">
            <a:off x="1333500" y="37338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Rules calculate balances, attendance summaries, payroll, and exceptions.</a:t>
            </a:r>
          </a:p>
        </p:txBody>
      </p:sp>
      <p:sp>
        <p:nvSpPr>
          <p:cNvPr id="23" name="">
            <a:extLst xmlns:a="http://schemas.openxmlformats.org/drawingml/2006/main">
              <a:ext uri="{FF2B5EF4-FFF2-40B4-BE49-F238E27FC236}">
                <a16:creationId xmlns:a16="http://schemas.microsoft.com/office/drawing/2014/main" id="{192FD4AD-05CA-41E3-9EF8-34838508A2BF}"/>
              </a:ext>
            </a:extLst>
          </p:cNvPr>
          <p:cNvSpPr>
            <a:spLocks xmlns:a="http://schemas.openxmlformats.org/drawingml/2006/main" noGrp="1"/>
          </p:cNvSpPr>
          <p:nvPr/>
        </p:nvSpPr>
        <p:spPr>
          <a:xfrm xmlns:a="http://schemas.openxmlformats.org/drawingml/2006/main">
            <a:off x="4438650" y="323850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EBCE469D-306A-408B-92BD-5A06F2C9A316}"/>
              </a:ext>
            </a:extLst>
          </p:cNvPr>
          <p:cNvSpPr>
            <a:spLocks xmlns:a="http://schemas.openxmlformats.org/drawingml/2006/main" noGrp="1"/>
          </p:cNvSpPr>
          <p:nvPr/>
        </p:nvSpPr>
        <p:spPr>
          <a:xfrm xmlns:a="http://schemas.openxmlformats.org/drawingml/2006/main">
            <a:off x="4591050" y="3409950"/>
            <a:ext cx="342900" cy="34290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9525">
            <a:solidFill>
              <a:srgbClr val="009966"/>
            </a:solidFill>
            <a:prstDash val="solid"/>
          </a:ln>
        </p:spPr>
      </p:sp>
      <p:sp>
        <p:nvSpPr>
          <p:cNvPr id="25" name="">
            <a:extLst xmlns:a="http://schemas.openxmlformats.org/drawingml/2006/main">
              <a:ext uri="{FF2B5EF4-FFF2-40B4-BE49-F238E27FC236}">
                <a16:creationId xmlns:a16="http://schemas.microsoft.com/office/drawing/2014/main" id="{A4CE9446-21B9-499E-9B69-90047D6F4790}"/>
              </a:ext>
            </a:extLst>
          </p:cNvPr>
          <p:cNvSpPr>
            <a:spLocks xmlns:a="http://schemas.openxmlformats.org/drawingml/2006/main" noGrp="1"/>
          </p:cNvSpPr>
          <p:nvPr/>
        </p:nvSpPr>
        <p:spPr>
          <a:xfrm xmlns:a="http://schemas.openxmlformats.org/drawingml/2006/main">
            <a:off x="4591050" y="34575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6" name="">
            <a:extLst xmlns:a="http://schemas.openxmlformats.org/drawingml/2006/main">
              <a:ext uri="{FF2B5EF4-FFF2-40B4-BE49-F238E27FC236}">
                <a16:creationId xmlns:a16="http://schemas.microsoft.com/office/drawing/2014/main" id="{78D0EBF8-DDAB-48F6-81BC-2CFEF9EBF2F0}"/>
              </a:ext>
            </a:extLst>
          </p:cNvPr>
          <p:cNvSpPr>
            <a:spLocks xmlns:a="http://schemas.openxmlformats.org/drawingml/2006/main" noGrp="1"/>
          </p:cNvSpPr>
          <p:nvPr/>
        </p:nvSpPr>
        <p:spPr>
          <a:xfrm xmlns:a="http://schemas.openxmlformats.org/drawingml/2006/main">
            <a:off x="5048250" y="34099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Publish</a:t>
            </a:r>
          </a:p>
        </p:txBody>
      </p:sp>
      <p:sp>
        <p:nvSpPr>
          <p:cNvPr id="27" name="">
            <a:extLst xmlns:a="http://schemas.openxmlformats.org/drawingml/2006/main">
              <a:ext uri="{FF2B5EF4-FFF2-40B4-BE49-F238E27FC236}">
                <a16:creationId xmlns:a16="http://schemas.microsoft.com/office/drawing/2014/main" id="{A69064E3-0261-40FC-AD39-B10012E85512}"/>
              </a:ext>
            </a:extLst>
          </p:cNvPr>
          <p:cNvSpPr>
            <a:spLocks xmlns:a="http://schemas.openxmlformats.org/drawingml/2006/main" noGrp="1"/>
          </p:cNvSpPr>
          <p:nvPr/>
        </p:nvSpPr>
        <p:spPr>
          <a:xfrm xmlns:a="http://schemas.openxmlformats.org/drawingml/2006/main">
            <a:off x="5048250" y="37338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Approved results become visible as payslips, reports, or status updates.</a:t>
            </a:r>
          </a:p>
        </p:txBody>
      </p:sp>
      <p:sp>
        <p:nvSpPr>
          <p:cNvPr id="28" name="">
            <a:extLst xmlns:a="http://schemas.openxmlformats.org/drawingml/2006/main">
              <a:ext uri="{FF2B5EF4-FFF2-40B4-BE49-F238E27FC236}">
                <a16:creationId xmlns:a16="http://schemas.microsoft.com/office/drawing/2014/main" id="{A7CD962D-9902-4F42-B69F-65BC8BF370D0}"/>
              </a:ext>
            </a:extLst>
          </p:cNvPr>
          <p:cNvSpPr>
            <a:spLocks xmlns:a="http://schemas.openxmlformats.org/drawingml/2006/main" noGrp="1"/>
          </p:cNvSpPr>
          <p:nvPr/>
        </p:nvSpPr>
        <p:spPr>
          <a:xfrm xmlns:a="http://schemas.openxmlformats.org/drawingml/2006/main">
            <a:off x="8153400" y="3238500"/>
            <a:ext cx="3333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3716F8D0-97B7-4230-A644-4EACDE4A006F}"/>
              </a:ext>
            </a:extLst>
          </p:cNvPr>
          <p:cNvSpPr>
            <a:spLocks xmlns:a="http://schemas.openxmlformats.org/drawingml/2006/main" noGrp="1"/>
          </p:cNvSpPr>
          <p:nvPr/>
        </p:nvSpPr>
        <p:spPr>
          <a:xfrm xmlns:a="http://schemas.openxmlformats.org/drawingml/2006/main">
            <a:off x="8305800" y="3409950"/>
            <a:ext cx="342900" cy="34290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9525">
            <a:solidFill>
              <a:srgbClr val="FE9A00"/>
            </a:solidFill>
            <a:prstDash val="solid"/>
          </a:ln>
        </p:spPr>
      </p:sp>
      <p:sp>
        <p:nvSpPr>
          <p:cNvPr id="30" name="">
            <a:extLst xmlns:a="http://schemas.openxmlformats.org/drawingml/2006/main">
              <a:ext uri="{FF2B5EF4-FFF2-40B4-BE49-F238E27FC236}">
                <a16:creationId xmlns:a16="http://schemas.microsoft.com/office/drawing/2014/main" id="{6B5D570D-4B74-4B3F-BB6A-1CFE3933D4B1}"/>
              </a:ext>
            </a:extLst>
          </p:cNvPr>
          <p:cNvSpPr>
            <a:spLocks xmlns:a="http://schemas.openxmlformats.org/drawingml/2006/main" noGrp="1"/>
          </p:cNvSpPr>
          <p:nvPr/>
        </p:nvSpPr>
        <p:spPr>
          <a:xfrm xmlns:a="http://schemas.openxmlformats.org/drawingml/2006/main">
            <a:off x="8305800" y="34575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6</a:t>
            </a:r>
          </a:p>
        </p:txBody>
      </p:sp>
      <p:sp>
        <p:nvSpPr>
          <p:cNvPr id="31" name="">
            <a:extLst xmlns:a="http://schemas.openxmlformats.org/drawingml/2006/main">
              <a:ext uri="{FF2B5EF4-FFF2-40B4-BE49-F238E27FC236}">
                <a16:creationId xmlns:a16="http://schemas.microsoft.com/office/drawing/2014/main" id="{A4CD22F1-A419-41AD-AF6E-A4692E634D86}"/>
              </a:ext>
            </a:extLst>
          </p:cNvPr>
          <p:cNvSpPr>
            <a:spLocks xmlns:a="http://schemas.openxmlformats.org/drawingml/2006/main" noGrp="1"/>
          </p:cNvSpPr>
          <p:nvPr/>
        </p:nvSpPr>
        <p:spPr>
          <a:xfrm xmlns:a="http://schemas.openxmlformats.org/drawingml/2006/main">
            <a:off x="8763000" y="34099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Audit</a:t>
            </a:r>
          </a:p>
        </p:txBody>
      </p:sp>
      <p:sp>
        <p:nvSpPr>
          <p:cNvPr id="32" name="">
            <a:extLst xmlns:a="http://schemas.openxmlformats.org/drawingml/2006/main">
              <a:ext uri="{FF2B5EF4-FFF2-40B4-BE49-F238E27FC236}">
                <a16:creationId xmlns:a16="http://schemas.microsoft.com/office/drawing/2014/main" id="{994E9522-4E8F-4F4F-9732-A02AF49866F3}"/>
              </a:ext>
            </a:extLst>
          </p:cNvPr>
          <p:cNvSpPr>
            <a:spLocks xmlns:a="http://schemas.openxmlformats.org/drawingml/2006/main" noGrp="1"/>
          </p:cNvSpPr>
          <p:nvPr/>
        </p:nvSpPr>
        <p:spPr>
          <a:xfrm xmlns:a="http://schemas.openxmlformats.org/drawingml/2006/main">
            <a:off x="8763000" y="37338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Every important action remains traceable, tenant-filtered, and reportable.</a:t>
            </a:r>
          </a:p>
        </p:txBody>
      </p:sp>
      <p:sp>
        <p:nvSpPr>
          <p:cNvPr id="33" name="">
            <a:extLst xmlns:a="http://schemas.openxmlformats.org/drawingml/2006/main">
              <a:ext uri="{FF2B5EF4-FFF2-40B4-BE49-F238E27FC236}">
                <a16:creationId xmlns:a16="http://schemas.microsoft.com/office/drawing/2014/main" id="{01E510A5-3F81-416E-886C-06ED3004C9BA}"/>
              </a:ext>
            </a:extLst>
          </p:cNvPr>
          <p:cNvSpPr>
            <a:spLocks xmlns:a="http://schemas.openxmlformats.org/drawingml/2006/main" noGrp="1"/>
          </p:cNvSpPr>
          <p:nvPr/>
        </p:nvSpPr>
        <p:spPr>
          <a:xfrm xmlns:a="http://schemas.openxmlformats.org/drawingml/2006/main">
            <a:off x="723900" y="5162550"/>
            <a:ext cx="107632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5DE41F75-4F88-4C3B-BEFE-A3707FA7EAEB}"/>
              </a:ext>
            </a:extLst>
          </p:cNvPr>
          <p:cNvSpPr>
            <a:spLocks xmlns:a="http://schemas.openxmlformats.org/drawingml/2006/main" noGrp="1"/>
          </p:cNvSpPr>
          <p:nvPr/>
        </p:nvSpPr>
        <p:spPr>
          <a:xfrm xmlns:a="http://schemas.openxmlformats.org/drawingml/2006/main">
            <a:off x="1009650" y="5334000"/>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20618"/>
                </a:solidFill>
              </a:defRPr>
            </a:pPr>
            <a:r>
              <a:rPr sz="1425" b="1">
                <a:solidFill>
                  <a:srgbClr val="020618"/>
                </a:solidFill>
              </a:rPr>
              <a:t>Operating principle: users see simple workflows; the platform handles security, approvals, calculations, events, history, and audit behind the scenes.</a:t>
            </a:r>
          </a:p>
        </p:txBody>
      </p:sp>
      <p:sp>
        <p:nvSpPr>
          <p:cNvPr id="35" name="">
            <a:extLst xmlns:a="http://schemas.openxmlformats.org/drawingml/2006/main">
              <a:ext uri="{FF2B5EF4-FFF2-40B4-BE49-F238E27FC236}">
                <a16:creationId xmlns:a16="http://schemas.microsoft.com/office/drawing/2014/main" id="{F888D5FC-F5F7-4506-B1A6-AFF9C95DFF63}"/>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36" name="">
            <a:extLst xmlns:a="http://schemas.openxmlformats.org/drawingml/2006/main">
              <a:ext uri="{FF2B5EF4-FFF2-40B4-BE49-F238E27FC236}">
                <a16:creationId xmlns:a16="http://schemas.microsoft.com/office/drawing/2014/main" id="{0ECC266D-A12C-442E-AA82-0A9AC21333D7}"/>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05</a:t>
            </a:r>
          </a:p>
        </p:txBody>
      </p:sp>
    </p:spTree>
    <p:extLst>
      <p:ext uri="{BB962C8B-B14F-4D97-AF65-F5344CB8AC3E}">
        <p14:creationId xmlns:p14="http://schemas.microsoft.com/office/powerpoint/2010/main" val="34707412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532BA9-0905-43AC-A293-0296F865A184}"/>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Architecture In Simple Language</a:t>
            </a:r>
          </a:p>
        </p:txBody>
      </p:sp>
      <p:sp>
        <p:nvSpPr>
          <p:cNvPr id="2" name="">
            <a:extLst xmlns:a="http://schemas.openxmlformats.org/drawingml/2006/main">
              <a:ext uri="{FF2B5EF4-FFF2-40B4-BE49-F238E27FC236}">
                <a16:creationId xmlns:a16="http://schemas.microsoft.com/office/drawing/2014/main" id="{65C8D6D8-8961-429F-B8FC-60D3CD07B6E3}"/>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A secure shared platform, where every customer is isolated and every module plugs into common services.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993c65704c4794"/>
          <a:srcRect xmlns:a="http://schemas.openxmlformats.org/drawingml/2006/main" l="2695" t="0" r="2695" b="0"/>
          <a:stretch xmlns:a="http://schemas.openxmlformats.org/drawingml/2006/main">
            <a:fillRect l="0" t="0" r="0" b="0"/>
          </a:stretch>
        </p:blipFill>
        <p:spPr>
          <a:xfrm xmlns:a="http://schemas.openxmlformats.org/drawingml/2006/main">
            <a:off x="6819900" y="1428750"/>
            <a:ext cx="4514850" cy="3181350"/>
          </a:xfrm>
          <a:prstGeom xmlns:a="http://schemas.openxmlformats.org/drawingml/2006/main" prst="roundRect">
            <a:avLst>
              <a:gd name="adj" fmla="val 3593"/>
            </a:avLst>
          </a:prstGeom>
        </p:spPr>
      </p:pic>
      <p:sp>
        <p:nvSpPr>
          <p:cNvPr id="4" name="">
            <a:extLst xmlns:a="http://schemas.openxmlformats.org/drawingml/2006/main">
              <a:ext uri="{FF2B5EF4-FFF2-40B4-BE49-F238E27FC236}">
                <a16:creationId xmlns:a16="http://schemas.microsoft.com/office/drawing/2014/main" id="{9FA8116D-8EC0-45A3-82B4-ABA4BFB6CA45}"/>
              </a:ext>
            </a:extLst>
          </p:cNvPr>
          <p:cNvSpPr>
            <a:spLocks xmlns:a="http://schemas.openxmlformats.org/drawingml/2006/main" noGrp="1"/>
          </p:cNvSpPr>
          <p:nvPr/>
        </p:nvSpPr>
        <p:spPr>
          <a:xfrm xmlns:a="http://schemas.openxmlformats.org/drawingml/2006/main">
            <a:off x="723900" y="1562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47E6"/>
                </a:solidFill>
              </a:defRPr>
            </a:pPr>
            <a:r>
              <a:rPr sz="975" b="1">
                <a:solidFill>
                  <a:srgbClr val="1447E6"/>
                </a:solidFill>
              </a:rPr>
              <a:t>APPROVED ARCHITECTURE CHOICES</a:t>
            </a:r>
          </a:p>
        </p:txBody>
      </p:sp>
      <p:sp>
        <p:nvSpPr>
          <p:cNvPr id="5" name="">
            <a:extLst xmlns:a="http://schemas.openxmlformats.org/drawingml/2006/main">
              <a:ext uri="{FF2B5EF4-FFF2-40B4-BE49-F238E27FC236}">
                <a16:creationId xmlns:a16="http://schemas.microsoft.com/office/drawing/2014/main" id="{F6927562-3EB6-4D5B-9B8A-5F424162FB21}"/>
              </a:ext>
            </a:extLst>
          </p:cNvPr>
          <p:cNvSpPr>
            <a:spLocks xmlns:a="http://schemas.openxmlformats.org/drawingml/2006/main" noGrp="1"/>
          </p:cNvSpPr>
          <p:nvPr/>
        </p:nvSpPr>
        <p:spPr>
          <a:xfrm xmlns:a="http://schemas.openxmlformats.org/drawingml/2006/main">
            <a:off x="723900" y="1924050"/>
            <a:ext cx="533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14158"/>
                </a:solidFill>
              </a:defRPr>
            </a:pPr>
            <a:r>
              <a:rPr sz="1500" b="0">
                <a:solidFill>
                  <a:srgbClr val="314158"/>
                </a:solidFill>
              </a:rPr>
              <a:t>- Multi-tenant SaaS: many customers, safely separated.</a:t>
            </a:r>
          </a:p>
          <a:p xmlns:a="http://schemas.openxmlformats.org/drawingml/2006/main">
            <a:pPr algn="l">
              <a:defRPr sz="1500" b="0">
                <a:solidFill>
                  <a:srgbClr val="314158"/>
                </a:solidFill>
              </a:defRPr>
            </a:pPr>
            <a:r>
              <a:rPr sz="1500" b="0">
                <a:solidFill>
                  <a:srgbClr val="314158"/>
                </a:solidFill>
              </a:rPr>
              <a:t>- Security first: every API checks tenant, user, role, permission, and policy.</a:t>
            </a:r>
          </a:p>
          <a:p xmlns:a="http://schemas.openxmlformats.org/drawingml/2006/main">
            <a:pPr algn="l">
              <a:defRPr sz="1500" b="0">
                <a:solidFill>
                  <a:srgbClr val="314158"/>
                </a:solidFill>
              </a:defRPr>
            </a:pPr>
            <a:r>
              <a:rPr sz="1500" b="0">
                <a:solidFill>
                  <a:srgbClr val="314158"/>
                </a:solidFill>
              </a:rPr>
              <a:t>- Rules-as-data: HR and payroll policies live in configuration, not hardcoded code.</a:t>
            </a:r>
          </a:p>
          <a:p xmlns:a="http://schemas.openxmlformats.org/drawingml/2006/main">
            <a:pPr algn="l">
              <a:defRPr sz="1500" b="0">
                <a:solidFill>
                  <a:srgbClr val="314158"/>
                </a:solidFill>
              </a:defRPr>
            </a:pPr>
            <a:r>
              <a:rPr sz="1500" b="0">
                <a:solidFill>
                  <a:srgbClr val="314158"/>
                </a:solidFill>
              </a:rPr>
              <a:t>- Event-driven backbone: modules communicate through approved events.</a:t>
            </a:r>
          </a:p>
          <a:p xmlns:a="http://schemas.openxmlformats.org/drawingml/2006/main">
            <a:pPr algn="l">
              <a:defRPr sz="1500" b="0">
                <a:solidFill>
                  <a:srgbClr val="314158"/>
                </a:solidFill>
              </a:defRPr>
            </a:pPr>
            <a:r>
              <a:rPr sz="1500" b="0">
                <a:solidFill>
                  <a:srgbClr val="314158"/>
                </a:solidFill>
              </a:rPr>
              <a:t>- Extension-ready: future modules connect through APIs, providers, manifests, and configuration.</a:t>
            </a:r>
          </a:p>
        </p:txBody>
      </p:sp>
      <p:sp>
        <p:nvSpPr>
          <p:cNvPr id="6" name="">
            <a:extLst xmlns:a="http://schemas.openxmlformats.org/drawingml/2006/main">
              <a:ext uri="{FF2B5EF4-FFF2-40B4-BE49-F238E27FC236}">
                <a16:creationId xmlns:a16="http://schemas.microsoft.com/office/drawing/2014/main" id="{77929816-71C1-48BC-8325-2762308BA6B7}"/>
              </a:ext>
            </a:extLst>
          </p:cNvPr>
          <p:cNvSpPr>
            <a:spLocks xmlns:a="http://schemas.openxmlformats.org/drawingml/2006/main" noGrp="1"/>
          </p:cNvSpPr>
          <p:nvPr/>
        </p:nvSpPr>
        <p:spPr>
          <a:xfrm xmlns:a="http://schemas.openxmlformats.org/drawingml/2006/main">
            <a:off x="723900" y="4762500"/>
            <a:ext cx="10610850" cy="742950"/>
          </a:xfrm>
          <a:prstGeom xmlns:a="http://schemas.openxmlformats.org/drawingml/2006/main" prst="roundRect">
            <a:avLst>
              <a:gd name="adj" fmla="val 10256"/>
            </a:avLst>
          </a:prstGeom>
          <a:solidFill xmlns:a="http://schemas.openxmlformats.org/drawingml/2006/main">
            <a:srgbClr val="EFF6FF"/>
          </a:solidFill>
          <a:ln xmlns:a="http://schemas.openxmlformats.org/drawingml/2006/main" w="9525">
            <a:solidFill>
              <a:srgbClr val="BEDBFF"/>
            </a:solidFill>
            <a:prstDash val="solid"/>
          </a:ln>
        </p:spPr>
      </p:sp>
      <p:sp>
        <p:nvSpPr>
          <p:cNvPr id="7" name="">
            <a:extLst xmlns:a="http://schemas.openxmlformats.org/drawingml/2006/main">
              <a:ext uri="{FF2B5EF4-FFF2-40B4-BE49-F238E27FC236}">
                <a16:creationId xmlns:a16="http://schemas.microsoft.com/office/drawing/2014/main" id="{EE988E3A-58EB-4953-B265-E1B5A9729C72}"/>
              </a:ext>
            </a:extLst>
          </p:cNvPr>
          <p:cNvSpPr>
            <a:spLocks xmlns:a="http://schemas.openxmlformats.org/drawingml/2006/main" noGrp="1"/>
          </p:cNvSpPr>
          <p:nvPr/>
        </p:nvSpPr>
        <p:spPr>
          <a:xfrm xmlns:a="http://schemas.openxmlformats.org/drawingml/2006/main">
            <a:off x="1009650" y="4972050"/>
            <a:ext cx="996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Simple example: LeaveApproved creates an event. Payroll, notifications, and reports can react without directly changing the Leave module.</a:t>
            </a:r>
          </a:p>
        </p:txBody>
      </p:sp>
      <p:sp>
        <p:nvSpPr>
          <p:cNvPr id="8" name="">
            <a:extLst xmlns:a="http://schemas.openxmlformats.org/drawingml/2006/main">
              <a:ext uri="{FF2B5EF4-FFF2-40B4-BE49-F238E27FC236}">
                <a16:creationId xmlns:a16="http://schemas.microsoft.com/office/drawing/2014/main" id="{04716D19-ABC5-4096-B3A4-A3C4E495F630}"/>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9" name="">
            <a:extLst xmlns:a="http://schemas.openxmlformats.org/drawingml/2006/main">
              <a:ext uri="{FF2B5EF4-FFF2-40B4-BE49-F238E27FC236}">
                <a16:creationId xmlns:a16="http://schemas.microsoft.com/office/drawing/2014/main" id="{226BD4A0-7A7F-49D2-A13F-82689EA28B87}"/>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06</a:t>
            </a:r>
          </a:p>
        </p:txBody>
      </p:sp>
    </p:spTree>
    <p:extLst>
      <p:ext uri="{BB962C8B-B14F-4D97-AF65-F5344CB8AC3E}">
        <p14:creationId xmlns:p14="http://schemas.microsoft.com/office/powerpoint/2010/main" val="13811366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18B2EC-C454-4C7B-8A5A-0910D80E0DCA}"/>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Foundations First</a:t>
            </a:r>
          </a:p>
        </p:txBody>
      </p:sp>
      <p:sp>
        <p:nvSpPr>
          <p:cNvPr id="2" name="">
            <a:extLst xmlns:a="http://schemas.openxmlformats.org/drawingml/2006/main">
              <a:ext uri="{FF2B5EF4-FFF2-40B4-BE49-F238E27FC236}">
                <a16:creationId xmlns:a16="http://schemas.microsoft.com/office/drawing/2014/main" id="{E9D40A43-2CD5-4A92-BECD-6CAAD329B12D}"/>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These foundations are hard to add later, so Phase 7A builds them before heavy business expansion.</a:t>
            </a:r>
          </a:p>
        </p:txBody>
      </p:sp>
      <p:sp>
        <p:nvSpPr>
          <p:cNvPr id="3" name="">
            <a:extLst xmlns:a="http://schemas.openxmlformats.org/drawingml/2006/main">
              <a:ext uri="{FF2B5EF4-FFF2-40B4-BE49-F238E27FC236}">
                <a16:creationId xmlns:a16="http://schemas.microsoft.com/office/drawing/2014/main" id="{1B061B1D-90B4-4BD6-9081-07A7029B5D8F}"/>
              </a:ext>
            </a:extLst>
          </p:cNvPr>
          <p:cNvSpPr>
            <a:spLocks xmlns:a="http://schemas.openxmlformats.org/drawingml/2006/main" noGrp="1"/>
          </p:cNvSpPr>
          <p:nvPr/>
        </p:nvSpPr>
        <p:spPr>
          <a:xfrm xmlns:a="http://schemas.openxmlformats.org/drawingml/2006/main">
            <a:off x="723900" y="173355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DCEB6634-46F5-4D0B-A374-C1B2132BCE7E}"/>
              </a:ext>
            </a:extLst>
          </p:cNvPr>
          <p:cNvSpPr>
            <a:spLocks xmlns:a="http://schemas.openxmlformats.org/drawingml/2006/main" noGrp="1"/>
          </p:cNvSpPr>
          <p:nvPr/>
        </p:nvSpPr>
        <p:spPr>
          <a:xfrm xmlns:a="http://schemas.openxmlformats.org/drawingml/2006/main">
            <a:off x="895350" y="18859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Tenant Catalog + RLS</a:t>
            </a:r>
          </a:p>
        </p:txBody>
      </p:sp>
      <p:sp>
        <p:nvSpPr>
          <p:cNvPr id="5" name="">
            <a:extLst xmlns:a="http://schemas.openxmlformats.org/drawingml/2006/main">
              <a:ext uri="{FF2B5EF4-FFF2-40B4-BE49-F238E27FC236}">
                <a16:creationId xmlns:a16="http://schemas.microsoft.com/office/drawing/2014/main" id="{6C5FA815-7927-462F-A3DD-599EC385443E}"/>
              </a:ext>
            </a:extLst>
          </p:cNvPr>
          <p:cNvSpPr>
            <a:spLocks xmlns:a="http://schemas.openxmlformats.org/drawingml/2006/main" noGrp="1"/>
          </p:cNvSpPr>
          <p:nvPr/>
        </p:nvSpPr>
        <p:spPr>
          <a:xfrm xmlns:a="http://schemas.openxmlformats.org/drawingml/2006/main">
            <a:off x="895350" y="220980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Customer isolation and tenant-filtered access.</a:t>
            </a:r>
          </a:p>
        </p:txBody>
      </p:sp>
      <p:sp>
        <p:nvSpPr>
          <p:cNvPr id="6" name="">
            <a:extLst xmlns:a="http://schemas.openxmlformats.org/drawingml/2006/main">
              <a:ext uri="{FF2B5EF4-FFF2-40B4-BE49-F238E27FC236}">
                <a16:creationId xmlns:a16="http://schemas.microsoft.com/office/drawing/2014/main" id="{061EE053-FACF-43FD-82D1-64C2B19C9BC3}"/>
              </a:ext>
            </a:extLst>
          </p:cNvPr>
          <p:cNvSpPr>
            <a:spLocks xmlns:a="http://schemas.openxmlformats.org/drawingml/2006/main" noGrp="1"/>
          </p:cNvSpPr>
          <p:nvPr/>
        </p:nvSpPr>
        <p:spPr>
          <a:xfrm xmlns:a="http://schemas.openxmlformats.org/drawingml/2006/main">
            <a:off x="4362450" y="1733550"/>
            <a:ext cx="3238500" cy="1104900"/>
          </a:xfrm>
          <a:prstGeom xmlns:a="http://schemas.openxmlformats.org/drawingml/2006/main" prst="roundRect">
            <a:avLst>
              <a:gd name="adj" fmla="val 6897"/>
            </a:avLst>
          </a:prstGeom>
          <a:solidFill xmlns:a="http://schemas.openxmlformats.org/drawingml/2006/main">
            <a:srgbClr val="F1F5F9"/>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150FF7F8-67F6-4D9D-B86A-46E4B77A8195}"/>
              </a:ext>
            </a:extLst>
          </p:cNvPr>
          <p:cNvSpPr>
            <a:spLocks xmlns:a="http://schemas.openxmlformats.org/drawingml/2006/main" noGrp="1"/>
          </p:cNvSpPr>
          <p:nvPr/>
        </p:nvSpPr>
        <p:spPr>
          <a:xfrm xmlns:a="http://schemas.openxmlformats.org/drawingml/2006/main">
            <a:off x="4533900" y="18859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Effective Dating</a:t>
            </a:r>
          </a:p>
        </p:txBody>
      </p:sp>
      <p:sp>
        <p:nvSpPr>
          <p:cNvPr id="8" name="">
            <a:extLst xmlns:a="http://schemas.openxmlformats.org/drawingml/2006/main">
              <a:ext uri="{FF2B5EF4-FFF2-40B4-BE49-F238E27FC236}">
                <a16:creationId xmlns:a16="http://schemas.microsoft.com/office/drawing/2014/main" id="{8A9302DB-BB5E-40D0-B791-DF0634F0A859}"/>
              </a:ext>
            </a:extLst>
          </p:cNvPr>
          <p:cNvSpPr>
            <a:spLocks xmlns:a="http://schemas.openxmlformats.org/drawingml/2006/main" noGrp="1"/>
          </p:cNvSpPr>
          <p:nvPr/>
        </p:nvSpPr>
        <p:spPr>
          <a:xfrm xmlns:a="http://schemas.openxmlformats.org/drawingml/2006/main">
            <a:off x="4533900" y="220980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History-aware records for payroll, audit, and reporting.</a:t>
            </a:r>
          </a:p>
        </p:txBody>
      </p:sp>
      <p:sp>
        <p:nvSpPr>
          <p:cNvPr id="9" name="">
            <a:extLst xmlns:a="http://schemas.openxmlformats.org/drawingml/2006/main">
              <a:ext uri="{FF2B5EF4-FFF2-40B4-BE49-F238E27FC236}">
                <a16:creationId xmlns:a16="http://schemas.microsoft.com/office/drawing/2014/main" id="{31938033-65FF-407F-879C-8A430153F686}"/>
              </a:ext>
            </a:extLst>
          </p:cNvPr>
          <p:cNvSpPr>
            <a:spLocks xmlns:a="http://schemas.openxmlformats.org/drawingml/2006/main" noGrp="1"/>
          </p:cNvSpPr>
          <p:nvPr/>
        </p:nvSpPr>
        <p:spPr>
          <a:xfrm xmlns:a="http://schemas.openxmlformats.org/drawingml/2006/main">
            <a:off x="8001000" y="173355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F84AE61-3082-497B-97BA-AC93B1535D0F}"/>
              </a:ext>
            </a:extLst>
          </p:cNvPr>
          <p:cNvSpPr>
            <a:spLocks xmlns:a="http://schemas.openxmlformats.org/drawingml/2006/main" noGrp="1"/>
          </p:cNvSpPr>
          <p:nvPr/>
        </p:nvSpPr>
        <p:spPr>
          <a:xfrm xmlns:a="http://schemas.openxmlformats.org/drawingml/2006/main">
            <a:off x="8172450" y="18859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Rule Engine</a:t>
            </a:r>
          </a:p>
        </p:txBody>
      </p:sp>
      <p:sp>
        <p:nvSpPr>
          <p:cNvPr id="11" name="">
            <a:extLst xmlns:a="http://schemas.openxmlformats.org/drawingml/2006/main">
              <a:ext uri="{FF2B5EF4-FFF2-40B4-BE49-F238E27FC236}">
                <a16:creationId xmlns:a16="http://schemas.microsoft.com/office/drawing/2014/main" id="{7A11EE1C-7121-46CA-A94C-43D887140038}"/>
              </a:ext>
            </a:extLst>
          </p:cNvPr>
          <p:cNvSpPr>
            <a:spLocks xmlns:a="http://schemas.openxmlformats.org/drawingml/2006/main" noGrp="1"/>
          </p:cNvSpPr>
          <p:nvPr/>
        </p:nvSpPr>
        <p:spPr>
          <a:xfrm xmlns:a="http://schemas.openxmlformats.org/drawingml/2006/main">
            <a:off x="8172450" y="220980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Leave, attendance, payroll, workflow, and compliance rules.</a:t>
            </a:r>
          </a:p>
        </p:txBody>
      </p:sp>
      <p:sp>
        <p:nvSpPr>
          <p:cNvPr id="12" name="">
            <a:extLst xmlns:a="http://schemas.openxmlformats.org/drawingml/2006/main">
              <a:ext uri="{FF2B5EF4-FFF2-40B4-BE49-F238E27FC236}">
                <a16:creationId xmlns:a16="http://schemas.microsoft.com/office/drawing/2014/main" id="{FF5C7D15-F492-4260-BE21-3C9DA658403A}"/>
              </a:ext>
            </a:extLst>
          </p:cNvPr>
          <p:cNvSpPr>
            <a:spLocks xmlns:a="http://schemas.openxmlformats.org/drawingml/2006/main" noGrp="1"/>
          </p:cNvSpPr>
          <p:nvPr/>
        </p:nvSpPr>
        <p:spPr>
          <a:xfrm xmlns:a="http://schemas.openxmlformats.org/drawingml/2006/main">
            <a:off x="723900" y="3200400"/>
            <a:ext cx="3238500" cy="1104900"/>
          </a:xfrm>
          <a:prstGeom xmlns:a="http://schemas.openxmlformats.org/drawingml/2006/main" prst="roundRect">
            <a:avLst>
              <a:gd name="adj" fmla="val 6897"/>
            </a:avLst>
          </a:prstGeom>
          <a:solidFill xmlns:a="http://schemas.openxmlformats.org/drawingml/2006/main">
            <a:srgbClr val="F1F5F9"/>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63DEC1B-02E2-4D82-8B76-CFA1188A7687}"/>
              </a:ext>
            </a:extLst>
          </p:cNvPr>
          <p:cNvSpPr>
            <a:spLocks xmlns:a="http://schemas.openxmlformats.org/drawingml/2006/main" noGrp="1"/>
          </p:cNvSpPr>
          <p:nvPr/>
        </p:nvSpPr>
        <p:spPr>
          <a:xfrm xmlns:a="http://schemas.openxmlformats.org/drawingml/2006/main">
            <a:off x="895350" y="33528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Workflow Engine</a:t>
            </a:r>
          </a:p>
        </p:txBody>
      </p:sp>
      <p:sp>
        <p:nvSpPr>
          <p:cNvPr id="14" name="">
            <a:extLst xmlns:a="http://schemas.openxmlformats.org/drawingml/2006/main">
              <a:ext uri="{FF2B5EF4-FFF2-40B4-BE49-F238E27FC236}">
                <a16:creationId xmlns:a16="http://schemas.microsoft.com/office/drawing/2014/main" id="{9D61018E-1DAB-4802-8083-370C9F075EBB}"/>
              </a:ext>
            </a:extLst>
          </p:cNvPr>
          <p:cNvSpPr>
            <a:spLocks xmlns:a="http://schemas.openxmlformats.org/drawingml/2006/main" noGrp="1"/>
          </p:cNvSpPr>
          <p:nvPr/>
        </p:nvSpPr>
        <p:spPr>
          <a:xfrm xmlns:a="http://schemas.openxmlformats.org/drawingml/2006/main">
            <a:off x="895350" y="367665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Approvals, escalation, SLA, delegation, and versioning.</a:t>
            </a:r>
          </a:p>
        </p:txBody>
      </p:sp>
      <p:sp>
        <p:nvSpPr>
          <p:cNvPr id="15" name="">
            <a:extLst xmlns:a="http://schemas.openxmlformats.org/drawingml/2006/main">
              <a:ext uri="{FF2B5EF4-FFF2-40B4-BE49-F238E27FC236}">
                <a16:creationId xmlns:a16="http://schemas.microsoft.com/office/drawing/2014/main" id="{4A22AE74-9CE1-4167-B835-6A7E78FE7FA1}"/>
              </a:ext>
            </a:extLst>
          </p:cNvPr>
          <p:cNvSpPr>
            <a:spLocks xmlns:a="http://schemas.openxmlformats.org/drawingml/2006/main" noGrp="1"/>
          </p:cNvSpPr>
          <p:nvPr/>
        </p:nvSpPr>
        <p:spPr>
          <a:xfrm xmlns:a="http://schemas.openxmlformats.org/drawingml/2006/main">
            <a:off x="4362450" y="320040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E4031666-038A-44C8-B258-AEE4407AF319}"/>
              </a:ext>
            </a:extLst>
          </p:cNvPr>
          <p:cNvSpPr>
            <a:spLocks xmlns:a="http://schemas.openxmlformats.org/drawingml/2006/main" noGrp="1"/>
          </p:cNvSpPr>
          <p:nvPr/>
        </p:nvSpPr>
        <p:spPr>
          <a:xfrm xmlns:a="http://schemas.openxmlformats.org/drawingml/2006/main">
            <a:off x="4533900" y="33528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Event Bus + Outbox</a:t>
            </a:r>
          </a:p>
        </p:txBody>
      </p:sp>
      <p:sp>
        <p:nvSpPr>
          <p:cNvPr id="17" name="">
            <a:extLst xmlns:a="http://schemas.openxmlformats.org/drawingml/2006/main">
              <a:ext uri="{FF2B5EF4-FFF2-40B4-BE49-F238E27FC236}">
                <a16:creationId xmlns:a16="http://schemas.microsoft.com/office/drawing/2014/main" id="{0B1A6D9B-DB01-405A-86B2-217DE3A8790A}"/>
              </a:ext>
            </a:extLst>
          </p:cNvPr>
          <p:cNvSpPr>
            <a:spLocks xmlns:a="http://schemas.openxmlformats.org/drawingml/2006/main" noGrp="1"/>
          </p:cNvSpPr>
          <p:nvPr/>
        </p:nvSpPr>
        <p:spPr>
          <a:xfrm xmlns:a="http://schemas.openxmlformats.org/drawingml/2006/main">
            <a:off x="4533900" y="367665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Reliable module-to-module communication.</a:t>
            </a:r>
          </a:p>
        </p:txBody>
      </p:sp>
      <p:sp>
        <p:nvSpPr>
          <p:cNvPr id="18" name="">
            <a:extLst xmlns:a="http://schemas.openxmlformats.org/drawingml/2006/main">
              <a:ext uri="{FF2B5EF4-FFF2-40B4-BE49-F238E27FC236}">
                <a16:creationId xmlns:a16="http://schemas.microsoft.com/office/drawing/2014/main" id="{FE65502B-98EC-470D-B120-485483FDE46A}"/>
              </a:ext>
            </a:extLst>
          </p:cNvPr>
          <p:cNvSpPr>
            <a:spLocks xmlns:a="http://schemas.openxmlformats.org/drawingml/2006/main" noGrp="1"/>
          </p:cNvSpPr>
          <p:nvPr/>
        </p:nvSpPr>
        <p:spPr>
          <a:xfrm xmlns:a="http://schemas.openxmlformats.org/drawingml/2006/main">
            <a:off x="8001000" y="3200400"/>
            <a:ext cx="3238500" cy="1104900"/>
          </a:xfrm>
          <a:prstGeom xmlns:a="http://schemas.openxmlformats.org/drawingml/2006/main" prst="roundRect">
            <a:avLst>
              <a:gd name="adj" fmla="val 6897"/>
            </a:avLst>
          </a:prstGeom>
          <a:solidFill xmlns:a="http://schemas.openxmlformats.org/drawingml/2006/main">
            <a:srgbClr val="F1F5F9"/>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E9BF634A-A530-4F48-A7AF-73C4818DFBBA}"/>
              </a:ext>
            </a:extLst>
          </p:cNvPr>
          <p:cNvSpPr>
            <a:spLocks xmlns:a="http://schemas.openxmlformats.org/drawingml/2006/main" noGrp="1"/>
          </p:cNvSpPr>
          <p:nvPr/>
        </p:nvSpPr>
        <p:spPr>
          <a:xfrm xmlns:a="http://schemas.openxmlformats.org/drawingml/2006/main">
            <a:off x="8172450" y="33528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Audit / Time Machine</a:t>
            </a:r>
          </a:p>
        </p:txBody>
      </p:sp>
      <p:sp>
        <p:nvSpPr>
          <p:cNvPr id="20" name="">
            <a:extLst xmlns:a="http://schemas.openxmlformats.org/drawingml/2006/main">
              <a:ext uri="{FF2B5EF4-FFF2-40B4-BE49-F238E27FC236}">
                <a16:creationId xmlns:a16="http://schemas.microsoft.com/office/drawing/2014/main" id="{43D8AACE-E222-4D44-AC36-97A35B800F04}"/>
              </a:ext>
            </a:extLst>
          </p:cNvPr>
          <p:cNvSpPr>
            <a:spLocks xmlns:a="http://schemas.openxmlformats.org/drawingml/2006/main" noGrp="1"/>
          </p:cNvSpPr>
          <p:nvPr/>
        </p:nvSpPr>
        <p:spPr>
          <a:xfrm xmlns:a="http://schemas.openxmlformats.org/drawingml/2006/main">
            <a:off x="8172450" y="3676650"/>
            <a:ext cx="289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Traceability, evidence, and change history.</a:t>
            </a:r>
          </a:p>
        </p:txBody>
      </p:sp>
      <p:sp>
        <p:nvSpPr>
          <p:cNvPr id="21" name="">
            <a:extLst xmlns:a="http://schemas.openxmlformats.org/drawingml/2006/main">
              <a:ext uri="{FF2B5EF4-FFF2-40B4-BE49-F238E27FC236}">
                <a16:creationId xmlns:a16="http://schemas.microsoft.com/office/drawing/2014/main" id="{D69DEE14-5C74-44F1-9815-23B619FF6873}"/>
              </a:ext>
            </a:extLst>
          </p:cNvPr>
          <p:cNvSpPr>
            <a:spLocks xmlns:a="http://schemas.openxmlformats.org/drawingml/2006/main" noGrp="1"/>
          </p:cNvSpPr>
          <p:nvPr/>
        </p:nvSpPr>
        <p:spPr>
          <a:xfrm xmlns:a="http://schemas.openxmlformats.org/drawingml/2006/main">
            <a:off x="1295400" y="5162550"/>
            <a:ext cx="9601200" cy="514350"/>
          </a:xfrm>
          <a:prstGeom xmlns:a="http://schemas.openxmlformats.org/drawingml/2006/main" prst="roundRect">
            <a:avLst>
              <a:gd name="adj" fmla="val 14815"/>
            </a:avLst>
          </a:prstGeom>
          <a:solidFill xmlns:a="http://schemas.openxmlformats.org/drawingml/2006/main">
            <a:srgbClr val="ECFDF5"/>
          </a:solidFill>
          <a:ln xmlns:a="http://schemas.openxmlformats.org/drawingml/2006/main" w="9525">
            <a:solidFill>
              <a:srgbClr val="A4F4CF"/>
            </a:solidFill>
            <a:prstDash val="solid"/>
          </a:ln>
        </p:spPr>
      </p:sp>
      <p:sp>
        <p:nvSpPr>
          <p:cNvPr id="22" name="">
            <a:extLst xmlns:a="http://schemas.openxmlformats.org/drawingml/2006/main">
              <a:ext uri="{FF2B5EF4-FFF2-40B4-BE49-F238E27FC236}">
                <a16:creationId xmlns:a16="http://schemas.microsoft.com/office/drawing/2014/main" id="{57C20767-FC7F-45A6-9398-B37CB78EB5EC}"/>
              </a:ext>
            </a:extLst>
          </p:cNvPr>
          <p:cNvSpPr>
            <a:spLocks xmlns:a="http://schemas.openxmlformats.org/drawingml/2006/main" noGrp="1"/>
          </p:cNvSpPr>
          <p:nvPr/>
        </p:nvSpPr>
        <p:spPr>
          <a:xfrm xmlns:a="http://schemas.openxmlformats.org/drawingml/2006/main">
            <a:off x="1619250" y="5295900"/>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20618"/>
                </a:solidFill>
              </a:defRPr>
            </a:pPr>
            <a:r>
              <a:rPr sz="1425" b="1">
                <a:solidFill>
                  <a:srgbClr val="020618"/>
                </a:solidFill>
              </a:rPr>
              <a:t>Business modules sit on top of these services, so later modules can be added without rewriting the core platform.</a:t>
            </a:r>
          </a:p>
        </p:txBody>
      </p:sp>
      <p:sp>
        <p:nvSpPr>
          <p:cNvPr id="23" name="">
            <a:extLst xmlns:a="http://schemas.openxmlformats.org/drawingml/2006/main">
              <a:ext uri="{FF2B5EF4-FFF2-40B4-BE49-F238E27FC236}">
                <a16:creationId xmlns:a16="http://schemas.microsoft.com/office/drawing/2014/main" id="{B8A227E0-DA3E-4A49-9592-16CB2F40F5FF}"/>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24" name="">
            <a:extLst xmlns:a="http://schemas.openxmlformats.org/drawingml/2006/main">
              <a:ext uri="{FF2B5EF4-FFF2-40B4-BE49-F238E27FC236}">
                <a16:creationId xmlns:a16="http://schemas.microsoft.com/office/drawing/2014/main" id="{A3A37117-EB7A-4F50-A265-D99D34DDDC7A}"/>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07</a:t>
            </a:r>
          </a:p>
        </p:txBody>
      </p:sp>
    </p:spTree>
    <p:extLst>
      <p:ext uri="{BB962C8B-B14F-4D97-AF65-F5344CB8AC3E}">
        <p14:creationId xmlns:p14="http://schemas.microsoft.com/office/powerpoint/2010/main" val="27203612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42C93E-4480-4BAC-A2DC-2A9D79BC9553}"/>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Business Modules In Phase 7A</a:t>
            </a:r>
          </a:p>
        </p:txBody>
      </p:sp>
      <p:sp>
        <p:nvSpPr>
          <p:cNvPr id="2" name="">
            <a:extLst xmlns:a="http://schemas.openxmlformats.org/drawingml/2006/main">
              <a:ext uri="{FF2B5EF4-FFF2-40B4-BE49-F238E27FC236}">
                <a16:creationId xmlns:a16="http://schemas.microsoft.com/office/drawing/2014/main" id="{2529CF45-E3AB-46C4-B058-8A16B64074B4}"/>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These are the first usable HR operations delivered on the approved foundation.</a:t>
            </a:r>
          </a:p>
        </p:txBody>
      </p:sp>
      <p:sp>
        <p:nvSpPr>
          <p:cNvPr id="3" name="">
            <a:extLst xmlns:a="http://schemas.openxmlformats.org/drawingml/2006/main">
              <a:ext uri="{FF2B5EF4-FFF2-40B4-BE49-F238E27FC236}">
                <a16:creationId xmlns:a16="http://schemas.microsoft.com/office/drawing/2014/main" id="{95343EC9-28A2-4FB7-B395-AEB3155C34C7}"/>
              </a:ext>
            </a:extLst>
          </p:cNvPr>
          <p:cNvSpPr>
            <a:spLocks xmlns:a="http://schemas.openxmlformats.org/drawingml/2006/main" noGrp="1"/>
          </p:cNvSpPr>
          <p:nvPr/>
        </p:nvSpPr>
        <p:spPr>
          <a:xfrm xmlns:a="http://schemas.openxmlformats.org/drawingml/2006/main">
            <a:off x="723900" y="1600200"/>
            <a:ext cx="3333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0F1C1E63-A7E4-4027-829C-A6E243C8EB66}"/>
              </a:ext>
            </a:extLst>
          </p:cNvPr>
          <p:cNvSpPr>
            <a:spLocks xmlns:a="http://schemas.openxmlformats.org/drawingml/2006/main" noGrp="1"/>
          </p:cNvSpPr>
          <p:nvPr/>
        </p:nvSpPr>
        <p:spPr>
          <a:xfrm xmlns:a="http://schemas.openxmlformats.org/drawingml/2006/main">
            <a:off x="895350" y="17526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Core HR + ESS</a:t>
            </a:r>
          </a:p>
        </p:txBody>
      </p:sp>
      <p:sp>
        <p:nvSpPr>
          <p:cNvPr id="5" name="">
            <a:extLst xmlns:a="http://schemas.openxmlformats.org/drawingml/2006/main">
              <a:ext uri="{FF2B5EF4-FFF2-40B4-BE49-F238E27FC236}">
                <a16:creationId xmlns:a16="http://schemas.microsoft.com/office/drawing/2014/main" id="{618C8B6F-92A9-45E6-97D3-EBEB926E4AC4}"/>
              </a:ext>
            </a:extLst>
          </p:cNvPr>
          <p:cNvSpPr>
            <a:spLocks xmlns:a="http://schemas.openxmlformats.org/drawingml/2006/main" noGrp="1"/>
          </p:cNvSpPr>
          <p:nvPr/>
        </p:nvSpPr>
        <p:spPr>
          <a:xfrm xmlns:a="http://schemas.openxmlformats.org/drawingml/2006/main">
            <a:off x="895350" y="2076450"/>
            <a:ext cx="2990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Employee master, assignments, organization data, profile requests, and employee self-service.</a:t>
            </a:r>
          </a:p>
        </p:txBody>
      </p:sp>
      <p:sp>
        <p:nvSpPr>
          <p:cNvPr id="6" name="">
            <a:extLst xmlns:a="http://schemas.openxmlformats.org/drawingml/2006/main">
              <a:ext uri="{FF2B5EF4-FFF2-40B4-BE49-F238E27FC236}">
                <a16:creationId xmlns:a16="http://schemas.microsoft.com/office/drawing/2014/main" id="{B69E9F12-6B42-490D-BEB8-38D482722297}"/>
              </a:ext>
            </a:extLst>
          </p:cNvPr>
          <p:cNvSpPr>
            <a:spLocks xmlns:a="http://schemas.openxmlformats.org/drawingml/2006/main" noGrp="1"/>
          </p:cNvSpPr>
          <p:nvPr/>
        </p:nvSpPr>
        <p:spPr>
          <a:xfrm xmlns:a="http://schemas.openxmlformats.org/drawingml/2006/main">
            <a:off x="4438650" y="1600200"/>
            <a:ext cx="3333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4E9474D-BF04-4ED6-963C-EAFF41D7A0EC}"/>
              </a:ext>
            </a:extLst>
          </p:cNvPr>
          <p:cNvSpPr>
            <a:spLocks xmlns:a="http://schemas.openxmlformats.org/drawingml/2006/main" noGrp="1"/>
          </p:cNvSpPr>
          <p:nvPr/>
        </p:nvSpPr>
        <p:spPr>
          <a:xfrm xmlns:a="http://schemas.openxmlformats.org/drawingml/2006/main">
            <a:off x="4610100" y="17526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Leave</a:t>
            </a:r>
          </a:p>
        </p:txBody>
      </p:sp>
      <p:sp>
        <p:nvSpPr>
          <p:cNvPr id="8" name="">
            <a:extLst xmlns:a="http://schemas.openxmlformats.org/drawingml/2006/main">
              <a:ext uri="{FF2B5EF4-FFF2-40B4-BE49-F238E27FC236}">
                <a16:creationId xmlns:a16="http://schemas.microsoft.com/office/drawing/2014/main" id="{E092AC7D-D83D-4F2A-94C1-1A90A41502F3}"/>
              </a:ext>
            </a:extLst>
          </p:cNvPr>
          <p:cNvSpPr>
            <a:spLocks xmlns:a="http://schemas.openxmlformats.org/drawingml/2006/main" noGrp="1"/>
          </p:cNvSpPr>
          <p:nvPr/>
        </p:nvSpPr>
        <p:spPr>
          <a:xfrm xmlns:a="http://schemas.openxmlformats.org/drawingml/2006/main">
            <a:off x="4610100" y="2076450"/>
            <a:ext cx="2990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Leave types, accruals, balances, calendars, approvals, payroll impact, and audit.</a:t>
            </a:r>
          </a:p>
        </p:txBody>
      </p:sp>
      <p:sp>
        <p:nvSpPr>
          <p:cNvPr id="9" name="">
            <a:extLst xmlns:a="http://schemas.openxmlformats.org/drawingml/2006/main">
              <a:ext uri="{FF2B5EF4-FFF2-40B4-BE49-F238E27FC236}">
                <a16:creationId xmlns:a16="http://schemas.microsoft.com/office/drawing/2014/main" id="{E8BBBB66-FD76-40F0-9ADD-51558C3FD4B0}"/>
              </a:ext>
            </a:extLst>
          </p:cNvPr>
          <p:cNvSpPr>
            <a:spLocks xmlns:a="http://schemas.openxmlformats.org/drawingml/2006/main" noGrp="1"/>
          </p:cNvSpPr>
          <p:nvPr/>
        </p:nvSpPr>
        <p:spPr>
          <a:xfrm xmlns:a="http://schemas.openxmlformats.org/drawingml/2006/main">
            <a:off x="8153400" y="1600200"/>
            <a:ext cx="3333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FB6476B-515E-458E-B0C0-E0BC967F3617}"/>
              </a:ext>
            </a:extLst>
          </p:cNvPr>
          <p:cNvSpPr>
            <a:spLocks xmlns:a="http://schemas.openxmlformats.org/drawingml/2006/main" noGrp="1"/>
          </p:cNvSpPr>
          <p:nvPr/>
        </p:nvSpPr>
        <p:spPr>
          <a:xfrm xmlns:a="http://schemas.openxmlformats.org/drawingml/2006/main">
            <a:off x="8324850" y="17526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Attendance</a:t>
            </a:r>
          </a:p>
        </p:txBody>
      </p:sp>
      <p:sp>
        <p:nvSpPr>
          <p:cNvPr id="11" name="">
            <a:extLst xmlns:a="http://schemas.openxmlformats.org/drawingml/2006/main">
              <a:ext uri="{FF2B5EF4-FFF2-40B4-BE49-F238E27FC236}">
                <a16:creationId xmlns:a16="http://schemas.microsoft.com/office/drawing/2014/main" id="{E17C4213-3BAF-41F9-A8F3-6B8D8A68E53B}"/>
              </a:ext>
            </a:extLst>
          </p:cNvPr>
          <p:cNvSpPr>
            <a:spLocks xmlns:a="http://schemas.openxmlformats.org/drawingml/2006/main" noGrp="1"/>
          </p:cNvSpPr>
          <p:nvPr/>
        </p:nvSpPr>
        <p:spPr>
          <a:xfrm xmlns:a="http://schemas.openxmlformats.org/drawingml/2006/main">
            <a:off x="8324850" y="2076450"/>
            <a:ext cx="2990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Punch capture, regularization, daily summaries, first connector framework, and payroll feed.</a:t>
            </a:r>
          </a:p>
        </p:txBody>
      </p:sp>
      <p:sp>
        <p:nvSpPr>
          <p:cNvPr id="12" name="">
            <a:extLst xmlns:a="http://schemas.openxmlformats.org/drawingml/2006/main">
              <a:ext uri="{FF2B5EF4-FFF2-40B4-BE49-F238E27FC236}">
                <a16:creationId xmlns:a16="http://schemas.microsoft.com/office/drawing/2014/main" id="{8269C49C-DB57-4DA1-8B38-CB88770E5632}"/>
              </a:ext>
            </a:extLst>
          </p:cNvPr>
          <p:cNvSpPr>
            <a:spLocks xmlns:a="http://schemas.openxmlformats.org/drawingml/2006/main" noGrp="1"/>
          </p:cNvSpPr>
          <p:nvPr/>
        </p:nvSpPr>
        <p:spPr>
          <a:xfrm xmlns:a="http://schemas.openxmlformats.org/drawingml/2006/main">
            <a:off x="1790700" y="3352800"/>
            <a:ext cx="3905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EEAF1A29-5E46-4901-BCC7-DEA798E7B277}"/>
              </a:ext>
            </a:extLst>
          </p:cNvPr>
          <p:cNvSpPr>
            <a:spLocks xmlns:a="http://schemas.openxmlformats.org/drawingml/2006/main" noGrp="1"/>
          </p:cNvSpPr>
          <p:nvPr/>
        </p:nvSpPr>
        <p:spPr>
          <a:xfrm xmlns:a="http://schemas.openxmlformats.org/drawingml/2006/main">
            <a:off x="1962150" y="35052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Payroll + India Compliance</a:t>
            </a:r>
          </a:p>
        </p:txBody>
      </p:sp>
      <p:sp>
        <p:nvSpPr>
          <p:cNvPr id="14" name="">
            <a:extLst xmlns:a="http://schemas.openxmlformats.org/drawingml/2006/main">
              <a:ext uri="{FF2B5EF4-FFF2-40B4-BE49-F238E27FC236}">
                <a16:creationId xmlns:a16="http://schemas.microsoft.com/office/drawing/2014/main" id="{D8A83736-B6AF-40CF-AA63-A523E85DA449}"/>
              </a:ext>
            </a:extLst>
          </p:cNvPr>
          <p:cNvSpPr>
            <a:spLocks xmlns:a="http://schemas.openxmlformats.org/drawingml/2006/main" noGrp="1"/>
          </p:cNvSpPr>
          <p:nvPr/>
        </p:nvSpPr>
        <p:spPr>
          <a:xfrm xmlns:a="http://schemas.openxmlformats.org/drawingml/2006/main">
            <a:off x="1962150" y="3829050"/>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Salary structures, payroll runs, exceptions, payslips, PF, ESI, PT, TDS, Form 16, FBP, and revisions.</a:t>
            </a:r>
          </a:p>
        </p:txBody>
      </p:sp>
      <p:sp>
        <p:nvSpPr>
          <p:cNvPr id="15" name="">
            <a:extLst xmlns:a="http://schemas.openxmlformats.org/drawingml/2006/main">
              <a:ext uri="{FF2B5EF4-FFF2-40B4-BE49-F238E27FC236}">
                <a16:creationId xmlns:a16="http://schemas.microsoft.com/office/drawing/2014/main" id="{2DEADCDC-EF13-4640-9BB2-A3116D0ED692}"/>
              </a:ext>
            </a:extLst>
          </p:cNvPr>
          <p:cNvSpPr>
            <a:spLocks xmlns:a="http://schemas.openxmlformats.org/drawingml/2006/main" noGrp="1"/>
          </p:cNvSpPr>
          <p:nvPr/>
        </p:nvSpPr>
        <p:spPr>
          <a:xfrm xmlns:a="http://schemas.openxmlformats.org/drawingml/2006/main">
            <a:off x="6496050" y="3352800"/>
            <a:ext cx="3905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8A1CA156-5D56-49B0-A5B9-6DE3C3B9B1A2}"/>
              </a:ext>
            </a:extLst>
          </p:cNvPr>
          <p:cNvSpPr>
            <a:spLocks xmlns:a="http://schemas.openxmlformats.org/drawingml/2006/main" noGrp="1"/>
          </p:cNvSpPr>
          <p:nvPr/>
        </p:nvSpPr>
        <p:spPr>
          <a:xfrm xmlns:a="http://schemas.openxmlformats.org/drawingml/2006/main">
            <a:off x="6667500" y="35052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Standard Reports</a:t>
            </a:r>
          </a:p>
        </p:txBody>
      </p:sp>
      <p:sp>
        <p:nvSpPr>
          <p:cNvPr id="17" name="">
            <a:extLst xmlns:a="http://schemas.openxmlformats.org/drawingml/2006/main">
              <a:ext uri="{FF2B5EF4-FFF2-40B4-BE49-F238E27FC236}">
                <a16:creationId xmlns:a16="http://schemas.microsoft.com/office/drawing/2014/main" id="{E9176AB2-4CC3-48A1-9B51-2309A597E757}"/>
              </a:ext>
            </a:extLst>
          </p:cNvPr>
          <p:cNvSpPr>
            <a:spLocks xmlns:a="http://schemas.openxmlformats.org/drawingml/2006/main" noGrp="1"/>
          </p:cNvSpPr>
          <p:nvPr/>
        </p:nvSpPr>
        <p:spPr>
          <a:xfrm xmlns:a="http://schemas.openxmlformats.org/drawingml/2006/main">
            <a:off x="6667500" y="3829050"/>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Operational and statutory reports with security filters, exports, drill-down, and audit evidence.</a:t>
            </a:r>
          </a:p>
        </p:txBody>
      </p:sp>
      <p:sp>
        <p:nvSpPr>
          <p:cNvPr id="18" name="">
            <a:extLst xmlns:a="http://schemas.openxmlformats.org/drawingml/2006/main">
              <a:ext uri="{FF2B5EF4-FFF2-40B4-BE49-F238E27FC236}">
                <a16:creationId xmlns:a16="http://schemas.microsoft.com/office/drawing/2014/main" id="{C52ADC05-A085-43BC-9350-5DC45BEF0CCD}"/>
              </a:ext>
            </a:extLst>
          </p:cNvPr>
          <p:cNvSpPr>
            <a:spLocks xmlns:a="http://schemas.openxmlformats.org/drawingml/2006/main" noGrp="1"/>
          </p:cNvSpPr>
          <p:nvPr/>
        </p:nvSpPr>
        <p:spPr>
          <a:xfrm xmlns:a="http://schemas.openxmlformats.org/drawingml/2006/main">
            <a:off x="1790700" y="5314950"/>
            <a:ext cx="8610600" cy="457200"/>
          </a:xfrm>
          <a:prstGeom xmlns:a="http://schemas.openxmlformats.org/drawingml/2006/main" prst="roundRect">
            <a:avLst>
              <a:gd name="adj" fmla="val 16667"/>
            </a:avLst>
          </a:prstGeom>
          <a:solidFill xmlns:a="http://schemas.openxmlformats.org/drawingml/2006/main">
            <a:srgbClr val="FFFBEB"/>
          </a:solidFill>
          <a:ln xmlns:a="http://schemas.openxmlformats.org/drawingml/2006/main" w="9525">
            <a:solidFill>
              <a:srgbClr val="FEE685"/>
            </a:solidFill>
            <a:prstDash val="solid"/>
          </a:ln>
        </p:spPr>
      </p:sp>
      <p:sp>
        <p:nvSpPr>
          <p:cNvPr id="19" name="">
            <a:extLst xmlns:a="http://schemas.openxmlformats.org/drawingml/2006/main">
              <a:ext uri="{FF2B5EF4-FFF2-40B4-BE49-F238E27FC236}">
                <a16:creationId xmlns:a16="http://schemas.microsoft.com/office/drawing/2014/main" id="{8F2D27D1-9C86-42B0-849F-3FB32D42E38C}"/>
              </a:ext>
            </a:extLst>
          </p:cNvPr>
          <p:cNvSpPr>
            <a:spLocks xmlns:a="http://schemas.openxmlformats.org/drawingml/2006/main" noGrp="1"/>
          </p:cNvSpPr>
          <p:nvPr/>
        </p:nvSpPr>
        <p:spPr>
          <a:xfrm xmlns:a="http://schemas.openxmlformats.org/drawingml/2006/main">
            <a:off x="2038350" y="5429250"/>
            <a:ext cx="811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20618"/>
                </a:solidFill>
              </a:defRPr>
            </a:pPr>
            <a:r>
              <a:rPr sz="1350" b="1">
                <a:solidFill>
                  <a:srgbClr val="020618"/>
                </a:solidFill>
              </a:rPr>
              <a:t>Later modules such as recruitment, LMS, performance, service desk, expenses, and assets remain future phases.</a:t>
            </a:r>
          </a:p>
        </p:txBody>
      </p:sp>
      <p:sp>
        <p:nvSpPr>
          <p:cNvPr id="20" name="">
            <a:extLst xmlns:a="http://schemas.openxmlformats.org/drawingml/2006/main">
              <a:ext uri="{FF2B5EF4-FFF2-40B4-BE49-F238E27FC236}">
                <a16:creationId xmlns:a16="http://schemas.microsoft.com/office/drawing/2014/main" id="{FDE18215-CA76-44B9-AA1F-8FCA1299C42C}"/>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21" name="">
            <a:extLst xmlns:a="http://schemas.openxmlformats.org/drawingml/2006/main">
              <a:ext uri="{FF2B5EF4-FFF2-40B4-BE49-F238E27FC236}">
                <a16:creationId xmlns:a16="http://schemas.microsoft.com/office/drawing/2014/main" id="{9D7E8FF9-F8B9-459B-8A5D-5C92660E30D6}"/>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08</a:t>
            </a:r>
          </a:p>
        </p:txBody>
      </p:sp>
    </p:spTree>
    <p:extLst>
      <p:ext uri="{BB962C8B-B14F-4D97-AF65-F5344CB8AC3E}">
        <p14:creationId xmlns:p14="http://schemas.microsoft.com/office/powerpoint/2010/main" val="738593639"/>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16C0A0-457A-495D-885D-FB2A08F6EDE5}"/>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Approved Development Order</a:t>
            </a:r>
          </a:p>
        </p:txBody>
      </p:sp>
      <p:sp>
        <p:nvSpPr>
          <p:cNvPr id="2" name="">
            <a:extLst xmlns:a="http://schemas.openxmlformats.org/drawingml/2006/main">
              <a:ext uri="{FF2B5EF4-FFF2-40B4-BE49-F238E27FC236}">
                <a16:creationId xmlns:a16="http://schemas.microsoft.com/office/drawing/2014/main" id="{A7B3CB6B-8381-4523-8269-E7257F8C80EC}"/>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order is dependency-led, so business features wait for the platform services they need.</a:t>
            </a:r>
          </a:p>
        </p:txBody>
      </p:sp>
      <p:sp>
        <p:nvSpPr>
          <p:cNvPr id="3" name="">
            <a:extLst xmlns:a="http://schemas.openxmlformats.org/drawingml/2006/main">
              <a:ext uri="{FF2B5EF4-FFF2-40B4-BE49-F238E27FC236}">
                <a16:creationId xmlns:a16="http://schemas.microsoft.com/office/drawing/2014/main" id="{BB24FB9F-E2D6-43D9-AAB1-D51EAF5D1BA2}"/>
              </a:ext>
            </a:extLst>
          </p:cNvPr>
          <p:cNvSpPr>
            <a:spLocks xmlns:a="http://schemas.openxmlformats.org/drawingml/2006/main" noGrp="1"/>
          </p:cNvSpPr>
          <p:nvPr/>
        </p:nvSpPr>
        <p:spPr>
          <a:xfrm xmlns:a="http://schemas.openxmlformats.org/drawingml/2006/main">
            <a:off x="819150" y="1466850"/>
            <a:ext cx="10344150" cy="400050"/>
          </a:xfrm>
          <a:prstGeom xmlns:a="http://schemas.openxmlformats.org/drawingml/2006/main" prst="roundRect">
            <a:avLst>
              <a:gd name="adj" fmla="val 4762"/>
            </a:avLst>
          </a:prstGeom>
          <a:solidFill xmlns:a="http://schemas.openxmlformats.org/drawingml/2006/main">
            <a:srgbClr val="F1F5F9"/>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E7C3C02A-E7C5-426B-8A44-CE68D4D71FFF}"/>
              </a:ext>
            </a:extLst>
          </p:cNvPr>
          <p:cNvSpPr>
            <a:spLocks xmlns:a="http://schemas.openxmlformats.org/drawingml/2006/main" noGrp="1"/>
          </p:cNvSpPr>
          <p:nvPr/>
        </p:nvSpPr>
        <p:spPr>
          <a:xfrm xmlns:a="http://schemas.openxmlformats.org/drawingml/2006/main">
            <a:off x="952500" y="15621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S1</a:t>
            </a:r>
          </a:p>
        </p:txBody>
      </p:sp>
      <p:sp>
        <p:nvSpPr>
          <p:cNvPr id="5" name="">
            <a:extLst xmlns:a="http://schemas.openxmlformats.org/drawingml/2006/main">
              <a:ext uri="{FF2B5EF4-FFF2-40B4-BE49-F238E27FC236}">
                <a16:creationId xmlns:a16="http://schemas.microsoft.com/office/drawing/2014/main" id="{411DCE9C-4B15-45A0-B054-635D21220E8E}"/>
              </a:ext>
            </a:extLst>
          </p:cNvPr>
          <p:cNvSpPr>
            <a:spLocks xmlns:a="http://schemas.openxmlformats.org/drawingml/2006/main" noGrp="1"/>
          </p:cNvSpPr>
          <p:nvPr/>
        </p:nvSpPr>
        <p:spPr>
          <a:xfrm xmlns:a="http://schemas.openxmlformats.org/drawingml/2006/main">
            <a:off x="1771650" y="156210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Tenant + Identity</a:t>
            </a:r>
          </a:p>
        </p:txBody>
      </p:sp>
      <p:sp>
        <p:nvSpPr>
          <p:cNvPr id="6" name="">
            <a:extLst xmlns:a="http://schemas.openxmlformats.org/drawingml/2006/main">
              <a:ext uri="{FF2B5EF4-FFF2-40B4-BE49-F238E27FC236}">
                <a16:creationId xmlns:a16="http://schemas.microsoft.com/office/drawing/2014/main" id="{ABAB1064-2EE2-4DD6-BB4F-DDF10F80E160}"/>
              </a:ext>
            </a:extLst>
          </p:cNvPr>
          <p:cNvSpPr>
            <a:spLocks xmlns:a="http://schemas.openxmlformats.org/drawingml/2006/main" noGrp="1"/>
          </p:cNvSpPr>
          <p:nvPr/>
        </p:nvSpPr>
        <p:spPr>
          <a:xfrm xmlns:a="http://schemas.openxmlformats.org/drawingml/2006/main">
            <a:off x="4981575" y="156210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Every request is tenant-safe and permission-aware.</a:t>
            </a:r>
          </a:p>
        </p:txBody>
      </p:sp>
      <p:sp>
        <p:nvSpPr>
          <p:cNvPr id="7" name="">
            <a:extLst xmlns:a="http://schemas.openxmlformats.org/drawingml/2006/main">
              <a:ext uri="{FF2B5EF4-FFF2-40B4-BE49-F238E27FC236}">
                <a16:creationId xmlns:a16="http://schemas.microsoft.com/office/drawing/2014/main" id="{F14E0F71-522D-4499-B216-8F6A62E61FA6}"/>
              </a:ext>
            </a:extLst>
          </p:cNvPr>
          <p:cNvSpPr>
            <a:spLocks xmlns:a="http://schemas.openxmlformats.org/drawingml/2006/main" noGrp="1"/>
          </p:cNvSpPr>
          <p:nvPr/>
        </p:nvSpPr>
        <p:spPr>
          <a:xfrm xmlns:a="http://schemas.openxmlformats.org/drawingml/2006/main">
            <a:off x="819150" y="1866900"/>
            <a:ext cx="10344150" cy="4000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1180D352-6F9F-42E9-81B6-38F9C522655F}"/>
              </a:ext>
            </a:extLst>
          </p:cNvPr>
          <p:cNvSpPr>
            <a:spLocks xmlns:a="http://schemas.openxmlformats.org/drawingml/2006/main" noGrp="1"/>
          </p:cNvSpPr>
          <p:nvPr/>
        </p:nvSpPr>
        <p:spPr>
          <a:xfrm xmlns:a="http://schemas.openxmlformats.org/drawingml/2006/main">
            <a:off x="952500" y="19621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S2</a:t>
            </a:r>
          </a:p>
        </p:txBody>
      </p:sp>
      <p:sp>
        <p:nvSpPr>
          <p:cNvPr id="9" name="">
            <a:extLst xmlns:a="http://schemas.openxmlformats.org/drawingml/2006/main">
              <a:ext uri="{FF2B5EF4-FFF2-40B4-BE49-F238E27FC236}">
                <a16:creationId xmlns:a16="http://schemas.microsoft.com/office/drawing/2014/main" id="{B31D1147-5F95-401F-848D-07C582F6BE85}"/>
              </a:ext>
            </a:extLst>
          </p:cNvPr>
          <p:cNvSpPr>
            <a:spLocks xmlns:a="http://schemas.openxmlformats.org/drawingml/2006/main" noGrp="1"/>
          </p:cNvSpPr>
          <p:nvPr/>
        </p:nvSpPr>
        <p:spPr>
          <a:xfrm xmlns:a="http://schemas.openxmlformats.org/drawingml/2006/main">
            <a:off x="1771650" y="196215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Effective Dating + Audit + Events</a:t>
            </a:r>
          </a:p>
        </p:txBody>
      </p:sp>
      <p:sp>
        <p:nvSpPr>
          <p:cNvPr id="10" name="">
            <a:extLst xmlns:a="http://schemas.openxmlformats.org/drawingml/2006/main">
              <a:ext uri="{FF2B5EF4-FFF2-40B4-BE49-F238E27FC236}">
                <a16:creationId xmlns:a16="http://schemas.microsoft.com/office/drawing/2014/main" id="{D2C15969-CB46-47DE-8F93-ACD863CBBF7D}"/>
              </a:ext>
            </a:extLst>
          </p:cNvPr>
          <p:cNvSpPr>
            <a:spLocks xmlns:a="http://schemas.openxmlformats.org/drawingml/2006/main" noGrp="1"/>
          </p:cNvSpPr>
          <p:nvPr/>
        </p:nvSpPr>
        <p:spPr>
          <a:xfrm xmlns:a="http://schemas.openxmlformats.org/drawingml/2006/main">
            <a:off x="4981575" y="19621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History, evidence, and module events are working.</a:t>
            </a:r>
          </a:p>
        </p:txBody>
      </p:sp>
      <p:sp>
        <p:nvSpPr>
          <p:cNvPr id="11" name="">
            <a:extLst xmlns:a="http://schemas.openxmlformats.org/drawingml/2006/main">
              <a:ext uri="{FF2B5EF4-FFF2-40B4-BE49-F238E27FC236}">
                <a16:creationId xmlns:a16="http://schemas.microsoft.com/office/drawing/2014/main" id="{A528FA79-B22B-47F7-AB4B-A7EDD8D29F1D}"/>
              </a:ext>
            </a:extLst>
          </p:cNvPr>
          <p:cNvSpPr>
            <a:spLocks xmlns:a="http://schemas.openxmlformats.org/drawingml/2006/main" noGrp="1"/>
          </p:cNvSpPr>
          <p:nvPr/>
        </p:nvSpPr>
        <p:spPr>
          <a:xfrm xmlns:a="http://schemas.openxmlformats.org/drawingml/2006/main">
            <a:off x="819150" y="2266950"/>
            <a:ext cx="10344150" cy="400050"/>
          </a:xfrm>
          <a:prstGeom xmlns:a="http://schemas.openxmlformats.org/drawingml/2006/main" prst="roundRect">
            <a:avLst>
              <a:gd name="adj" fmla="val 4762"/>
            </a:avLst>
          </a:prstGeom>
          <a:solidFill xmlns:a="http://schemas.openxmlformats.org/drawingml/2006/main">
            <a:srgbClr val="F1F5F9"/>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D9F15B86-B067-4F18-AF5A-E0DBB6C71E2B}"/>
              </a:ext>
            </a:extLst>
          </p:cNvPr>
          <p:cNvSpPr>
            <a:spLocks xmlns:a="http://schemas.openxmlformats.org/drawingml/2006/main" noGrp="1"/>
          </p:cNvSpPr>
          <p:nvPr/>
        </p:nvSpPr>
        <p:spPr>
          <a:xfrm xmlns:a="http://schemas.openxmlformats.org/drawingml/2006/main">
            <a:off x="952500" y="23622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S3</a:t>
            </a:r>
          </a:p>
        </p:txBody>
      </p:sp>
      <p:sp>
        <p:nvSpPr>
          <p:cNvPr id="13" name="">
            <a:extLst xmlns:a="http://schemas.openxmlformats.org/drawingml/2006/main">
              <a:ext uri="{FF2B5EF4-FFF2-40B4-BE49-F238E27FC236}">
                <a16:creationId xmlns:a16="http://schemas.microsoft.com/office/drawing/2014/main" id="{39C3766A-11D0-48C3-8CCE-D2E15CD89A45}"/>
              </a:ext>
            </a:extLst>
          </p:cNvPr>
          <p:cNvSpPr>
            <a:spLocks xmlns:a="http://schemas.openxmlformats.org/drawingml/2006/main" noGrp="1"/>
          </p:cNvSpPr>
          <p:nvPr/>
        </p:nvSpPr>
        <p:spPr>
          <a:xfrm xmlns:a="http://schemas.openxmlformats.org/drawingml/2006/main">
            <a:off x="1771650" y="236220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Rule + Workflow + Configuration</a:t>
            </a:r>
          </a:p>
        </p:txBody>
      </p:sp>
      <p:sp>
        <p:nvSpPr>
          <p:cNvPr id="14" name="">
            <a:extLst xmlns:a="http://schemas.openxmlformats.org/drawingml/2006/main">
              <a:ext uri="{FF2B5EF4-FFF2-40B4-BE49-F238E27FC236}">
                <a16:creationId xmlns:a16="http://schemas.microsoft.com/office/drawing/2014/main" id="{D05E3FD9-ED3E-4237-8D1C-37F2C0E5618E}"/>
              </a:ext>
            </a:extLst>
          </p:cNvPr>
          <p:cNvSpPr>
            <a:spLocks xmlns:a="http://schemas.openxmlformats.org/drawingml/2006/main" noGrp="1"/>
          </p:cNvSpPr>
          <p:nvPr/>
        </p:nvSpPr>
        <p:spPr>
          <a:xfrm xmlns:a="http://schemas.openxmlformats.org/drawingml/2006/main">
            <a:off x="4981575" y="236220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Policies, approvals, and forms are data-driven.</a:t>
            </a:r>
          </a:p>
        </p:txBody>
      </p:sp>
      <p:sp>
        <p:nvSpPr>
          <p:cNvPr id="15" name="">
            <a:extLst xmlns:a="http://schemas.openxmlformats.org/drawingml/2006/main">
              <a:ext uri="{FF2B5EF4-FFF2-40B4-BE49-F238E27FC236}">
                <a16:creationId xmlns:a16="http://schemas.microsoft.com/office/drawing/2014/main" id="{E5A9EFA3-4520-4F76-8C20-AD437D68A7BA}"/>
              </a:ext>
            </a:extLst>
          </p:cNvPr>
          <p:cNvSpPr>
            <a:spLocks xmlns:a="http://schemas.openxmlformats.org/drawingml/2006/main" noGrp="1"/>
          </p:cNvSpPr>
          <p:nvPr/>
        </p:nvSpPr>
        <p:spPr>
          <a:xfrm xmlns:a="http://schemas.openxmlformats.org/drawingml/2006/main">
            <a:off x="819150" y="2667000"/>
            <a:ext cx="10344150" cy="4000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EE2E6879-5E6D-4531-8988-CC4380E517F8}"/>
              </a:ext>
            </a:extLst>
          </p:cNvPr>
          <p:cNvSpPr>
            <a:spLocks xmlns:a="http://schemas.openxmlformats.org/drawingml/2006/main" noGrp="1"/>
          </p:cNvSpPr>
          <p:nvPr/>
        </p:nvSpPr>
        <p:spPr>
          <a:xfrm xmlns:a="http://schemas.openxmlformats.org/drawingml/2006/main">
            <a:off x="952500" y="27622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S4</a:t>
            </a:r>
          </a:p>
        </p:txBody>
      </p:sp>
      <p:sp>
        <p:nvSpPr>
          <p:cNvPr id="17" name="">
            <a:extLst xmlns:a="http://schemas.openxmlformats.org/drawingml/2006/main">
              <a:ext uri="{FF2B5EF4-FFF2-40B4-BE49-F238E27FC236}">
                <a16:creationId xmlns:a16="http://schemas.microsoft.com/office/drawing/2014/main" id="{CA9BE9FA-2E63-4B5F-9B23-4CF7032B5DD7}"/>
              </a:ext>
            </a:extLst>
          </p:cNvPr>
          <p:cNvSpPr>
            <a:spLocks xmlns:a="http://schemas.openxmlformats.org/drawingml/2006/main" noGrp="1"/>
          </p:cNvSpPr>
          <p:nvPr/>
        </p:nvSpPr>
        <p:spPr>
          <a:xfrm xmlns:a="http://schemas.openxmlformats.org/drawingml/2006/main">
            <a:off x="1771650" y="276225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Core HR + ESS</a:t>
            </a:r>
          </a:p>
        </p:txBody>
      </p:sp>
      <p:sp>
        <p:nvSpPr>
          <p:cNvPr id="18" name="">
            <a:extLst xmlns:a="http://schemas.openxmlformats.org/drawingml/2006/main">
              <a:ext uri="{FF2B5EF4-FFF2-40B4-BE49-F238E27FC236}">
                <a16:creationId xmlns:a16="http://schemas.microsoft.com/office/drawing/2014/main" id="{F8570FEA-CBE3-4985-80E3-7C4A80B3CEA5}"/>
              </a:ext>
            </a:extLst>
          </p:cNvPr>
          <p:cNvSpPr>
            <a:spLocks xmlns:a="http://schemas.openxmlformats.org/drawingml/2006/main" noGrp="1"/>
          </p:cNvSpPr>
          <p:nvPr/>
        </p:nvSpPr>
        <p:spPr>
          <a:xfrm xmlns:a="http://schemas.openxmlformats.org/drawingml/2006/main">
            <a:off x="4981575" y="27622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Employee master and self-service become usable.</a:t>
            </a:r>
          </a:p>
        </p:txBody>
      </p:sp>
      <p:sp>
        <p:nvSpPr>
          <p:cNvPr id="19" name="">
            <a:extLst xmlns:a="http://schemas.openxmlformats.org/drawingml/2006/main">
              <a:ext uri="{FF2B5EF4-FFF2-40B4-BE49-F238E27FC236}">
                <a16:creationId xmlns:a16="http://schemas.microsoft.com/office/drawing/2014/main" id="{E97F73B4-BAB3-406F-AE51-E180EBCFCE86}"/>
              </a:ext>
            </a:extLst>
          </p:cNvPr>
          <p:cNvSpPr>
            <a:spLocks xmlns:a="http://schemas.openxmlformats.org/drawingml/2006/main" noGrp="1"/>
          </p:cNvSpPr>
          <p:nvPr/>
        </p:nvSpPr>
        <p:spPr>
          <a:xfrm xmlns:a="http://schemas.openxmlformats.org/drawingml/2006/main">
            <a:off x="819150" y="3067050"/>
            <a:ext cx="10344150" cy="400050"/>
          </a:xfrm>
          <a:prstGeom xmlns:a="http://schemas.openxmlformats.org/drawingml/2006/main" prst="roundRect">
            <a:avLst>
              <a:gd name="adj" fmla="val 4762"/>
            </a:avLst>
          </a:prstGeom>
          <a:solidFill xmlns:a="http://schemas.openxmlformats.org/drawingml/2006/main">
            <a:srgbClr val="F1F5F9"/>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527D4ED1-9C55-4D1A-B750-3955DF27A53D}"/>
              </a:ext>
            </a:extLst>
          </p:cNvPr>
          <p:cNvSpPr>
            <a:spLocks xmlns:a="http://schemas.openxmlformats.org/drawingml/2006/main" noGrp="1"/>
          </p:cNvSpPr>
          <p:nvPr/>
        </p:nvSpPr>
        <p:spPr>
          <a:xfrm xmlns:a="http://schemas.openxmlformats.org/drawingml/2006/main">
            <a:off x="952500" y="3162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S5</a:t>
            </a:r>
          </a:p>
        </p:txBody>
      </p:sp>
      <p:sp>
        <p:nvSpPr>
          <p:cNvPr id="21" name="">
            <a:extLst xmlns:a="http://schemas.openxmlformats.org/drawingml/2006/main">
              <a:ext uri="{FF2B5EF4-FFF2-40B4-BE49-F238E27FC236}">
                <a16:creationId xmlns:a16="http://schemas.microsoft.com/office/drawing/2014/main" id="{F0F26959-D551-4B25-B09E-9E1417DA4B25}"/>
              </a:ext>
            </a:extLst>
          </p:cNvPr>
          <p:cNvSpPr>
            <a:spLocks xmlns:a="http://schemas.openxmlformats.org/drawingml/2006/main" noGrp="1"/>
          </p:cNvSpPr>
          <p:nvPr/>
        </p:nvSpPr>
        <p:spPr>
          <a:xfrm xmlns:a="http://schemas.openxmlformats.org/drawingml/2006/main">
            <a:off x="1771650" y="316230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Leave</a:t>
            </a:r>
          </a:p>
        </p:txBody>
      </p:sp>
      <p:sp>
        <p:nvSpPr>
          <p:cNvPr id="22" name="">
            <a:extLst xmlns:a="http://schemas.openxmlformats.org/drawingml/2006/main">
              <a:ext uri="{FF2B5EF4-FFF2-40B4-BE49-F238E27FC236}">
                <a16:creationId xmlns:a16="http://schemas.microsoft.com/office/drawing/2014/main" id="{F8A4D6B5-E8DA-4433-9F76-6A310B709411}"/>
              </a:ext>
            </a:extLst>
          </p:cNvPr>
          <p:cNvSpPr>
            <a:spLocks xmlns:a="http://schemas.openxmlformats.org/drawingml/2006/main" noGrp="1"/>
          </p:cNvSpPr>
          <p:nvPr/>
        </p:nvSpPr>
        <p:spPr>
          <a:xfrm xmlns:a="http://schemas.openxmlformats.org/drawingml/2006/main">
            <a:off x="4981575" y="316230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Leave policies, balances, applications, and approvals work.</a:t>
            </a:r>
          </a:p>
        </p:txBody>
      </p:sp>
      <p:sp>
        <p:nvSpPr>
          <p:cNvPr id="23" name="">
            <a:extLst xmlns:a="http://schemas.openxmlformats.org/drawingml/2006/main">
              <a:ext uri="{FF2B5EF4-FFF2-40B4-BE49-F238E27FC236}">
                <a16:creationId xmlns:a16="http://schemas.microsoft.com/office/drawing/2014/main" id="{43D3DD30-068D-4A0B-BCFD-971314A35BBA}"/>
              </a:ext>
            </a:extLst>
          </p:cNvPr>
          <p:cNvSpPr>
            <a:spLocks xmlns:a="http://schemas.openxmlformats.org/drawingml/2006/main" noGrp="1"/>
          </p:cNvSpPr>
          <p:nvPr/>
        </p:nvSpPr>
        <p:spPr>
          <a:xfrm xmlns:a="http://schemas.openxmlformats.org/drawingml/2006/main">
            <a:off x="819150" y="3467100"/>
            <a:ext cx="10344150" cy="4000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412F7762-F2E3-43F9-BFAC-1CB545AF038E}"/>
              </a:ext>
            </a:extLst>
          </p:cNvPr>
          <p:cNvSpPr>
            <a:spLocks xmlns:a="http://schemas.openxmlformats.org/drawingml/2006/main" noGrp="1"/>
          </p:cNvSpPr>
          <p:nvPr/>
        </p:nvSpPr>
        <p:spPr>
          <a:xfrm xmlns:a="http://schemas.openxmlformats.org/drawingml/2006/main">
            <a:off x="952500" y="35623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S6</a:t>
            </a:r>
          </a:p>
        </p:txBody>
      </p:sp>
      <p:sp>
        <p:nvSpPr>
          <p:cNvPr id="25" name="">
            <a:extLst xmlns:a="http://schemas.openxmlformats.org/drawingml/2006/main">
              <a:ext uri="{FF2B5EF4-FFF2-40B4-BE49-F238E27FC236}">
                <a16:creationId xmlns:a16="http://schemas.microsoft.com/office/drawing/2014/main" id="{2A5505EC-E5C4-4DEB-A92E-FF246D9A06B8}"/>
              </a:ext>
            </a:extLst>
          </p:cNvPr>
          <p:cNvSpPr>
            <a:spLocks xmlns:a="http://schemas.openxmlformats.org/drawingml/2006/main" noGrp="1"/>
          </p:cNvSpPr>
          <p:nvPr/>
        </p:nvSpPr>
        <p:spPr>
          <a:xfrm xmlns:a="http://schemas.openxmlformats.org/drawingml/2006/main">
            <a:off x="1771650" y="356235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Attendance + Connector</a:t>
            </a:r>
          </a:p>
        </p:txBody>
      </p:sp>
      <p:sp>
        <p:nvSpPr>
          <p:cNvPr id="26" name="">
            <a:extLst xmlns:a="http://schemas.openxmlformats.org/drawingml/2006/main">
              <a:ext uri="{FF2B5EF4-FFF2-40B4-BE49-F238E27FC236}">
                <a16:creationId xmlns:a16="http://schemas.microsoft.com/office/drawing/2014/main" id="{75BFA858-10B6-4256-85FC-0E55CE2E3184}"/>
              </a:ext>
            </a:extLst>
          </p:cNvPr>
          <p:cNvSpPr>
            <a:spLocks xmlns:a="http://schemas.openxmlformats.org/drawingml/2006/main" noGrp="1"/>
          </p:cNvSpPr>
          <p:nvPr/>
        </p:nvSpPr>
        <p:spPr>
          <a:xfrm xmlns:a="http://schemas.openxmlformats.org/drawingml/2006/main">
            <a:off x="4981575" y="35623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Attendance capture and payroll feed work.</a:t>
            </a:r>
          </a:p>
        </p:txBody>
      </p:sp>
      <p:sp>
        <p:nvSpPr>
          <p:cNvPr id="27" name="">
            <a:extLst xmlns:a="http://schemas.openxmlformats.org/drawingml/2006/main">
              <a:ext uri="{FF2B5EF4-FFF2-40B4-BE49-F238E27FC236}">
                <a16:creationId xmlns:a16="http://schemas.microsoft.com/office/drawing/2014/main" id="{C6CC68E4-56BE-4C2D-80E4-8C7AE9F288FC}"/>
              </a:ext>
            </a:extLst>
          </p:cNvPr>
          <p:cNvSpPr>
            <a:spLocks xmlns:a="http://schemas.openxmlformats.org/drawingml/2006/main" noGrp="1"/>
          </p:cNvSpPr>
          <p:nvPr/>
        </p:nvSpPr>
        <p:spPr>
          <a:xfrm xmlns:a="http://schemas.openxmlformats.org/drawingml/2006/main">
            <a:off x="819150" y="3867150"/>
            <a:ext cx="10344150" cy="400050"/>
          </a:xfrm>
          <a:prstGeom xmlns:a="http://schemas.openxmlformats.org/drawingml/2006/main" prst="roundRect">
            <a:avLst>
              <a:gd name="adj" fmla="val 4762"/>
            </a:avLst>
          </a:prstGeom>
          <a:solidFill xmlns:a="http://schemas.openxmlformats.org/drawingml/2006/main">
            <a:srgbClr val="F1F5F9"/>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8B9F47BA-7CA0-4028-947E-0CD23CC59C26}"/>
              </a:ext>
            </a:extLst>
          </p:cNvPr>
          <p:cNvSpPr>
            <a:spLocks xmlns:a="http://schemas.openxmlformats.org/drawingml/2006/main" noGrp="1"/>
          </p:cNvSpPr>
          <p:nvPr/>
        </p:nvSpPr>
        <p:spPr>
          <a:xfrm xmlns:a="http://schemas.openxmlformats.org/drawingml/2006/main">
            <a:off x="952500" y="39624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S7</a:t>
            </a:r>
          </a:p>
        </p:txBody>
      </p:sp>
      <p:sp>
        <p:nvSpPr>
          <p:cNvPr id="29" name="">
            <a:extLst xmlns:a="http://schemas.openxmlformats.org/drawingml/2006/main">
              <a:ext uri="{FF2B5EF4-FFF2-40B4-BE49-F238E27FC236}">
                <a16:creationId xmlns:a16="http://schemas.microsoft.com/office/drawing/2014/main" id="{5FB21FEE-F73D-4548-AFEF-7993E6FBC64F}"/>
              </a:ext>
            </a:extLst>
          </p:cNvPr>
          <p:cNvSpPr>
            <a:spLocks xmlns:a="http://schemas.openxmlformats.org/drawingml/2006/main" noGrp="1"/>
          </p:cNvSpPr>
          <p:nvPr/>
        </p:nvSpPr>
        <p:spPr>
          <a:xfrm xmlns:a="http://schemas.openxmlformats.org/drawingml/2006/main">
            <a:off x="1771650" y="396240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Payroll Engine</a:t>
            </a:r>
          </a:p>
        </p:txBody>
      </p:sp>
      <p:sp>
        <p:nvSpPr>
          <p:cNvPr id="30" name="">
            <a:extLst xmlns:a="http://schemas.openxmlformats.org/drawingml/2006/main">
              <a:ext uri="{FF2B5EF4-FFF2-40B4-BE49-F238E27FC236}">
                <a16:creationId xmlns:a16="http://schemas.microsoft.com/office/drawing/2014/main" id="{2347AE42-D1CA-45EA-8267-92ACD2CD431D}"/>
              </a:ext>
            </a:extLst>
          </p:cNvPr>
          <p:cNvSpPr>
            <a:spLocks xmlns:a="http://schemas.openxmlformats.org/drawingml/2006/main" noGrp="1"/>
          </p:cNvSpPr>
          <p:nvPr/>
        </p:nvSpPr>
        <p:spPr>
          <a:xfrm xmlns:a="http://schemas.openxmlformats.org/drawingml/2006/main">
            <a:off x="4981575" y="396240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Payroll run, calculations, exceptions, and payslips work.</a:t>
            </a:r>
          </a:p>
        </p:txBody>
      </p:sp>
      <p:sp>
        <p:nvSpPr>
          <p:cNvPr id="31" name="">
            <a:extLst xmlns:a="http://schemas.openxmlformats.org/drawingml/2006/main">
              <a:ext uri="{FF2B5EF4-FFF2-40B4-BE49-F238E27FC236}">
                <a16:creationId xmlns:a16="http://schemas.microsoft.com/office/drawing/2014/main" id="{A676B41E-7F3A-4EAA-B56A-2CEA07D62612}"/>
              </a:ext>
            </a:extLst>
          </p:cNvPr>
          <p:cNvSpPr>
            <a:spLocks xmlns:a="http://schemas.openxmlformats.org/drawingml/2006/main" noGrp="1"/>
          </p:cNvSpPr>
          <p:nvPr/>
        </p:nvSpPr>
        <p:spPr>
          <a:xfrm xmlns:a="http://schemas.openxmlformats.org/drawingml/2006/main">
            <a:off x="819150" y="4267200"/>
            <a:ext cx="10344150" cy="4000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F20BA421-0F3E-49CF-B7B3-01532FCB9476}"/>
              </a:ext>
            </a:extLst>
          </p:cNvPr>
          <p:cNvSpPr>
            <a:spLocks xmlns:a="http://schemas.openxmlformats.org/drawingml/2006/main" noGrp="1"/>
          </p:cNvSpPr>
          <p:nvPr/>
        </p:nvSpPr>
        <p:spPr>
          <a:xfrm xmlns:a="http://schemas.openxmlformats.org/drawingml/2006/main">
            <a:off x="952500" y="43624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S8</a:t>
            </a:r>
          </a:p>
        </p:txBody>
      </p:sp>
      <p:sp>
        <p:nvSpPr>
          <p:cNvPr id="33" name="">
            <a:extLst xmlns:a="http://schemas.openxmlformats.org/drawingml/2006/main">
              <a:ext uri="{FF2B5EF4-FFF2-40B4-BE49-F238E27FC236}">
                <a16:creationId xmlns:a16="http://schemas.microsoft.com/office/drawing/2014/main" id="{DE7FB104-3F2F-4EBA-9641-8CB2CBE92028}"/>
              </a:ext>
            </a:extLst>
          </p:cNvPr>
          <p:cNvSpPr>
            <a:spLocks xmlns:a="http://schemas.openxmlformats.org/drawingml/2006/main" noGrp="1"/>
          </p:cNvSpPr>
          <p:nvPr/>
        </p:nvSpPr>
        <p:spPr>
          <a:xfrm xmlns:a="http://schemas.openxmlformats.org/drawingml/2006/main">
            <a:off x="1771650" y="436245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India Compliance</a:t>
            </a:r>
          </a:p>
        </p:txBody>
      </p:sp>
      <p:sp>
        <p:nvSpPr>
          <p:cNvPr id="34" name="">
            <a:extLst xmlns:a="http://schemas.openxmlformats.org/drawingml/2006/main">
              <a:ext uri="{FF2B5EF4-FFF2-40B4-BE49-F238E27FC236}">
                <a16:creationId xmlns:a16="http://schemas.microsoft.com/office/drawing/2014/main" id="{B51D0D4B-9AED-4037-A078-F96AAFCBB4C4}"/>
              </a:ext>
            </a:extLst>
          </p:cNvPr>
          <p:cNvSpPr>
            <a:spLocks xmlns:a="http://schemas.openxmlformats.org/drawingml/2006/main" noGrp="1"/>
          </p:cNvSpPr>
          <p:nvPr/>
        </p:nvSpPr>
        <p:spPr>
          <a:xfrm xmlns:a="http://schemas.openxmlformats.org/drawingml/2006/main">
            <a:off x="4981575" y="43624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PF, ESI, PT, TDS, Form 16, FBP, and revisions are covered.</a:t>
            </a:r>
          </a:p>
        </p:txBody>
      </p:sp>
      <p:sp>
        <p:nvSpPr>
          <p:cNvPr id="35" name="">
            <a:extLst xmlns:a="http://schemas.openxmlformats.org/drawingml/2006/main">
              <a:ext uri="{FF2B5EF4-FFF2-40B4-BE49-F238E27FC236}">
                <a16:creationId xmlns:a16="http://schemas.microsoft.com/office/drawing/2014/main" id="{D5E3B025-0465-4F77-9F9E-68357AA5CD7C}"/>
              </a:ext>
            </a:extLst>
          </p:cNvPr>
          <p:cNvSpPr>
            <a:spLocks xmlns:a="http://schemas.openxmlformats.org/drawingml/2006/main" noGrp="1"/>
          </p:cNvSpPr>
          <p:nvPr/>
        </p:nvSpPr>
        <p:spPr>
          <a:xfrm xmlns:a="http://schemas.openxmlformats.org/drawingml/2006/main">
            <a:off x="819150" y="4667250"/>
            <a:ext cx="10344150" cy="400050"/>
          </a:xfrm>
          <a:prstGeom xmlns:a="http://schemas.openxmlformats.org/drawingml/2006/main" prst="roundRect">
            <a:avLst>
              <a:gd name="adj" fmla="val 4762"/>
            </a:avLst>
          </a:prstGeom>
          <a:solidFill xmlns:a="http://schemas.openxmlformats.org/drawingml/2006/main">
            <a:srgbClr val="F1F5F9"/>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7B516D30-323C-4B06-A6CF-19B598FF00C7}"/>
              </a:ext>
            </a:extLst>
          </p:cNvPr>
          <p:cNvSpPr>
            <a:spLocks xmlns:a="http://schemas.openxmlformats.org/drawingml/2006/main" noGrp="1"/>
          </p:cNvSpPr>
          <p:nvPr/>
        </p:nvSpPr>
        <p:spPr>
          <a:xfrm xmlns:a="http://schemas.openxmlformats.org/drawingml/2006/main">
            <a:off x="952500" y="4762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S9</a:t>
            </a:r>
          </a:p>
        </p:txBody>
      </p:sp>
      <p:sp>
        <p:nvSpPr>
          <p:cNvPr id="37" name="">
            <a:extLst xmlns:a="http://schemas.openxmlformats.org/drawingml/2006/main">
              <a:ext uri="{FF2B5EF4-FFF2-40B4-BE49-F238E27FC236}">
                <a16:creationId xmlns:a16="http://schemas.microsoft.com/office/drawing/2014/main" id="{BF4E990E-06CD-41FF-9BA1-03E5994CC946}"/>
              </a:ext>
            </a:extLst>
          </p:cNvPr>
          <p:cNvSpPr>
            <a:spLocks xmlns:a="http://schemas.openxmlformats.org/drawingml/2006/main" noGrp="1"/>
          </p:cNvSpPr>
          <p:nvPr/>
        </p:nvSpPr>
        <p:spPr>
          <a:xfrm xmlns:a="http://schemas.openxmlformats.org/drawingml/2006/main">
            <a:off x="1771650" y="476250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Workflow Hardening</a:t>
            </a:r>
          </a:p>
        </p:txBody>
      </p:sp>
      <p:sp>
        <p:nvSpPr>
          <p:cNvPr id="38" name="">
            <a:extLst xmlns:a="http://schemas.openxmlformats.org/drawingml/2006/main">
              <a:ext uri="{FF2B5EF4-FFF2-40B4-BE49-F238E27FC236}">
                <a16:creationId xmlns:a16="http://schemas.microsoft.com/office/drawing/2014/main" id="{478316D2-F406-48CA-999E-DE0CFD158281}"/>
              </a:ext>
            </a:extLst>
          </p:cNvPr>
          <p:cNvSpPr>
            <a:spLocks xmlns:a="http://schemas.openxmlformats.org/drawingml/2006/main" noGrp="1"/>
          </p:cNvSpPr>
          <p:nvPr/>
        </p:nvSpPr>
        <p:spPr>
          <a:xfrm xmlns:a="http://schemas.openxmlformats.org/drawingml/2006/main">
            <a:off x="4981575" y="476250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Delegation, SLA, escalation, and migration are hardened.</a:t>
            </a:r>
          </a:p>
        </p:txBody>
      </p:sp>
      <p:sp>
        <p:nvSpPr>
          <p:cNvPr id="39" name="">
            <a:extLst xmlns:a="http://schemas.openxmlformats.org/drawingml/2006/main">
              <a:ext uri="{FF2B5EF4-FFF2-40B4-BE49-F238E27FC236}">
                <a16:creationId xmlns:a16="http://schemas.microsoft.com/office/drawing/2014/main" id="{FBBFC14A-0CB8-4AF9-95A6-973869ED5968}"/>
              </a:ext>
            </a:extLst>
          </p:cNvPr>
          <p:cNvSpPr>
            <a:spLocks xmlns:a="http://schemas.openxmlformats.org/drawingml/2006/main" noGrp="1"/>
          </p:cNvSpPr>
          <p:nvPr/>
        </p:nvSpPr>
        <p:spPr>
          <a:xfrm xmlns:a="http://schemas.openxmlformats.org/drawingml/2006/main">
            <a:off x="819150" y="5067300"/>
            <a:ext cx="10344150" cy="4000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0A0127CD-14AC-4543-B563-D63465F9DD12}"/>
              </a:ext>
            </a:extLst>
          </p:cNvPr>
          <p:cNvSpPr>
            <a:spLocks xmlns:a="http://schemas.openxmlformats.org/drawingml/2006/main" noGrp="1"/>
          </p:cNvSpPr>
          <p:nvPr/>
        </p:nvSpPr>
        <p:spPr>
          <a:xfrm xmlns:a="http://schemas.openxmlformats.org/drawingml/2006/main">
            <a:off x="952500" y="51625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20618"/>
                </a:solidFill>
              </a:defRPr>
            </a:pPr>
            <a:r>
              <a:rPr sz="1200" b="1">
                <a:solidFill>
                  <a:srgbClr val="020618"/>
                </a:solidFill>
              </a:rPr>
              <a:t>S10</a:t>
            </a:r>
          </a:p>
        </p:txBody>
      </p:sp>
      <p:sp>
        <p:nvSpPr>
          <p:cNvPr id="41" name="">
            <a:extLst xmlns:a="http://schemas.openxmlformats.org/drawingml/2006/main">
              <a:ext uri="{FF2B5EF4-FFF2-40B4-BE49-F238E27FC236}">
                <a16:creationId xmlns:a16="http://schemas.microsoft.com/office/drawing/2014/main" id="{48D31A44-BBB4-427C-B971-328649114D27}"/>
              </a:ext>
            </a:extLst>
          </p:cNvPr>
          <p:cNvSpPr>
            <a:spLocks xmlns:a="http://schemas.openxmlformats.org/drawingml/2006/main" noGrp="1"/>
          </p:cNvSpPr>
          <p:nvPr/>
        </p:nvSpPr>
        <p:spPr>
          <a:xfrm xmlns:a="http://schemas.openxmlformats.org/drawingml/2006/main">
            <a:off x="1771650" y="5162550"/>
            <a:ext cx="2943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Reports + Release</a:t>
            </a:r>
          </a:p>
        </p:txBody>
      </p:sp>
      <p:sp>
        <p:nvSpPr>
          <p:cNvPr id="42" name="">
            <a:extLst xmlns:a="http://schemas.openxmlformats.org/drawingml/2006/main">
              <a:ext uri="{FF2B5EF4-FFF2-40B4-BE49-F238E27FC236}">
                <a16:creationId xmlns:a16="http://schemas.microsoft.com/office/drawing/2014/main" id="{15FAC192-0E6E-4B90-8638-73E8F70E7E74}"/>
              </a:ext>
            </a:extLst>
          </p:cNvPr>
          <p:cNvSpPr>
            <a:spLocks xmlns:a="http://schemas.openxmlformats.org/drawingml/2006/main" noGrp="1"/>
          </p:cNvSpPr>
          <p:nvPr/>
        </p:nvSpPr>
        <p:spPr>
          <a:xfrm xmlns:a="http://schemas.openxmlformats.org/drawingml/2006/main">
            <a:off x="4981575" y="51625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Reports, exports, performance, security, and release readiness.</a:t>
            </a:r>
          </a:p>
        </p:txBody>
      </p:sp>
      <p:sp>
        <p:nvSpPr>
          <p:cNvPr id="43" name="">
            <a:extLst xmlns:a="http://schemas.openxmlformats.org/drawingml/2006/main">
              <a:ext uri="{FF2B5EF4-FFF2-40B4-BE49-F238E27FC236}">
                <a16:creationId xmlns:a16="http://schemas.microsoft.com/office/drawing/2014/main" id="{439AB810-2958-4448-8587-F7B541A585FC}"/>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44" name="">
            <a:extLst xmlns:a="http://schemas.openxmlformats.org/drawingml/2006/main">
              <a:ext uri="{FF2B5EF4-FFF2-40B4-BE49-F238E27FC236}">
                <a16:creationId xmlns:a16="http://schemas.microsoft.com/office/drawing/2014/main" id="{4870BE90-63FA-4105-9EB9-AE559B7525D9}"/>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09</a:t>
            </a:r>
          </a:p>
        </p:txBody>
      </p:sp>
    </p:spTree>
    <p:extLst>
      <p:ext uri="{BB962C8B-B14F-4D97-AF65-F5344CB8AC3E}">
        <p14:creationId xmlns:p14="http://schemas.microsoft.com/office/powerpoint/2010/main" val="1243511531"/>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80B017-3A40-419D-843E-09FC07F50C57}"/>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Security, Audit, And Quality Controls</a:t>
            </a:r>
          </a:p>
        </p:txBody>
      </p:sp>
      <p:sp>
        <p:nvSpPr>
          <p:cNvPr id="2" name="">
            <a:extLst xmlns:a="http://schemas.openxmlformats.org/drawingml/2006/main">
              <a:ext uri="{FF2B5EF4-FFF2-40B4-BE49-F238E27FC236}">
                <a16:creationId xmlns:a16="http://schemas.microsoft.com/office/drawing/2014/main" id="{379E1262-67A8-4F71-A720-F12CCC9FE3D3}"/>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These controls apply across the whole Phase 7A build, not only one module.</a:t>
            </a:r>
          </a:p>
        </p:txBody>
      </p:sp>
      <p:sp>
        <p:nvSpPr>
          <p:cNvPr id="3" name="">
            <a:extLst xmlns:a="http://schemas.openxmlformats.org/drawingml/2006/main">
              <a:ext uri="{FF2B5EF4-FFF2-40B4-BE49-F238E27FC236}">
                <a16:creationId xmlns:a16="http://schemas.microsoft.com/office/drawing/2014/main" id="{900E7DC7-FC15-4D6B-866A-0837C24C7380}"/>
              </a:ext>
            </a:extLst>
          </p:cNvPr>
          <p:cNvSpPr>
            <a:spLocks xmlns:a="http://schemas.openxmlformats.org/drawingml/2006/main" noGrp="1"/>
          </p:cNvSpPr>
          <p:nvPr/>
        </p:nvSpPr>
        <p:spPr>
          <a:xfrm xmlns:a="http://schemas.openxmlformats.org/drawingml/2006/main">
            <a:off x="723900" y="16192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D5EBDFE4-2DF0-4362-B8E6-933F16B25FC4}"/>
              </a:ext>
            </a:extLst>
          </p:cNvPr>
          <p:cNvSpPr>
            <a:spLocks xmlns:a="http://schemas.openxmlformats.org/drawingml/2006/main" noGrp="1"/>
          </p:cNvSpPr>
          <p:nvPr/>
        </p:nvSpPr>
        <p:spPr>
          <a:xfrm xmlns:a="http://schemas.openxmlformats.org/drawingml/2006/main">
            <a:off x="895350" y="17716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Tenant isolation</a:t>
            </a:r>
          </a:p>
        </p:txBody>
      </p:sp>
      <p:sp>
        <p:nvSpPr>
          <p:cNvPr id="5" name="">
            <a:extLst xmlns:a="http://schemas.openxmlformats.org/drawingml/2006/main">
              <a:ext uri="{FF2B5EF4-FFF2-40B4-BE49-F238E27FC236}">
                <a16:creationId xmlns:a16="http://schemas.microsoft.com/office/drawing/2014/main" id="{3F3DDC20-9463-4368-AFBE-0C4323638BA3}"/>
              </a:ext>
            </a:extLst>
          </p:cNvPr>
          <p:cNvSpPr>
            <a:spLocks xmlns:a="http://schemas.openxmlformats.org/drawingml/2006/main" noGrp="1"/>
          </p:cNvSpPr>
          <p:nvPr/>
        </p:nvSpPr>
        <p:spPr>
          <a:xfrm xmlns:a="http://schemas.openxmlformats.org/drawingml/2006/main">
            <a:off x="895350" y="209550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Every table and query must respect tenant context and prevent cross-tenant access.</a:t>
            </a:r>
          </a:p>
        </p:txBody>
      </p:sp>
      <p:sp>
        <p:nvSpPr>
          <p:cNvPr id="6" name="">
            <a:extLst xmlns:a="http://schemas.openxmlformats.org/drawingml/2006/main">
              <a:ext uri="{FF2B5EF4-FFF2-40B4-BE49-F238E27FC236}">
                <a16:creationId xmlns:a16="http://schemas.microsoft.com/office/drawing/2014/main" id="{34C4ADB1-656A-4120-8410-3FD166BDD62B}"/>
              </a:ext>
            </a:extLst>
          </p:cNvPr>
          <p:cNvSpPr>
            <a:spLocks xmlns:a="http://schemas.openxmlformats.org/drawingml/2006/main" noGrp="1"/>
          </p:cNvSpPr>
          <p:nvPr/>
        </p:nvSpPr>
        <p:spPr>
          <a:xfrm xmlns:a="http://schemas.openxmlformats.org/drawingml/2006/main">
            <a:off x="4438650" y="16192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2317A8DC-FD85-43E6-A4BE-7F468FB1D49D}"/>
              </a:ext>
            </a:extLst>
          </p:cNvPr>
          <p:cNvSpPr>
            <a:spLocks xmlns:a="http://schemas.openxmlformats.org/drawingml/2006/main" noGrp="1"/>
          </p:cNvSpPr>
          <p:nvPr/>
        </p:nvSpPr>
        <p:spPr>
          <a:xfrm xmlns:a="http://schemas.openxmlformats.org/drawingml/2006/main">
            <a:off x="4610100" y="17716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RBAC + ABAC</a:t>
            </a:r>
          </a:p>
        </p:txBody>
      </p:sp>
      <p:sp>
        <p:nvSpPr>
          <p:cNvPr id="8" name="">
            <a:extLst xmlns:a="http://schemas.openxmlformats.org/drawingml/2006/main">
              <a:ext uri="{FF2B5EF4-FFF2-40B4-BE49-F238E27FC236}">
                <a16:creationId xmlns:a16="http://schemas.microsoft.com/office/drawing/2014/main" id="{44E2757F-21CA-4871-93E3-77AB32C70405}"/>
              </a:ext>
            </a:extLst>
          </p:cNvPr>
          <p:cNvSpPr>
            <a:spLocks xmlns:a="http://schemas.openxmlformats.org/drawingml/2006/main" noGrp="1"/>
          </p:cNvSpPr>
          <p:nvPr/>
        </p:nvSpPr>
        <p:spPr>
          <a:xfrm xmlns:a="http://schemas.openxmlformats.org/drawingml/2006/main">
            <a:off x="4610100" y="209550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Role permissions and policy conditions control access to every action and API.</a:t>
            </a:r>
          </a:p>
        </p:txBody>
      </p:sp>
      <p:sp>
        <p:nvSpPr>
          <p:cNvPr id="9" name="">
            <a:extLst xmlns:a="http://schemas.openxmlformats.org/drawingml/2006/main">
              <a:ext uri="{FF2B5EF4-FFF2-40B4-BE49-F238E27FC236}">
                <a16:creationId xmlns:a16="http://schemas.microsoft.com/office/drawing/2014/main" id="{56086349-CBDF-4FAB-BAE3-779045A9C2C7}"/>
              </a:ext>
            </a:extLst>
          </p:cNvPr>
          <p:cNvSpPr>
            <a:spLocks xmlns:a="http://schemas.openxmlformats.org/drawingml/2006/main" noGrp="1"/>
          </p:cNvSpPr>
          <p:nvPr/>
        </p:nvSpPr>
        <p:spPr>
          <a:xfrm xmlns:a="http://schemas.openxmlformats.org/drawingml/2006/main">
            <a:off x="8153400" y="16192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796C001-BA94-4F36-BDE9-1F5BA204D214}"/>
              </a:ext>
            </a:extLst>
          </p:cNvPr>
          <p:cNvSpPr>
            <a:spLocks xmlns:a="http://schemas.openxmlformats.org/drawingml/2006/main" noGrp="1"/>
          </p:cNvSpPr>
          <p:nvPr/>
        </p:nvSpPr>
        <p:spPr>
          <a:xfrm xmlns:a="http://schemas.openxmlformats.org/drawingml/2006/main">
            <a:off x="8324850" y="17716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Audit / Time Machine</a:t>
            </a:r>
          </a:p>
        </p:txBody>
      </p:sp>
      <p:sp>
        <p:nvSpPr>
          <p:cNvPr id="11" name="">
            <a:extLst xmlns:a="http://schemas.openxmlformats.org/drawingml/2006/main">
              <a:ext uri="{FF2B5EF4-FFF2-40B4-BE49-F238E27FC236}">
                <a16:creationId xmlns:a16="http://schemas.microsoft.com/office/drawing/2014/main" id="{A1D63252-2318-4CBE-AA3D-4627DE9CA909}"/>
              </a:ext>
            </a:extLst>
          </p:cNvPr>
          <p:cNvSpPr>
            <a:spLocks xmlns:a="http://schemas.openxmlformats.org/drawingml/2006/main" noGrp="1"/>
          </p:cNvSpPr>
          <p:nvPr/>
        </p:nvSpPr>
        <p:spPr>
          <a:xfrm xmlns:a="http://schemas.openxmlformats.org/drawingml/2006/main">
            <a:off x="8324850" y="209550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Important changes are recorded with who, when, what changed, and approval evidence.</a:t>
            </a:r>
          </a:p>
        </p:txBody>
      </p:sp>
      <p:sp>
        <p:nvSpPr>
          <p:cNvPr id="12" name="">
            <a:extLst xmlns:a="http://schemas.openxmlformats.org/drawingml/2006/main">
              <a:ext uri="{FF2B5EF4-FFF2-40B4-BE49-F238E27FC236}">
                <a16:creationId xmlns:a16="http://schemas.microsoft.com/office/drawing/2014/main" id="{3380E5F1-C670-4C74-81D9-E82CD6443BAC}"/>
              </a:ext>
            </a:extLst>
          </p:cNvPr>
          <p:cNvSpPr>
            <a:spLocks xmlns:a="http://schemas.openxmlformats.org/drawingml/2006/main" noGrp="1"/>
          </p:cNvSpPr>
          <p:nvPr/>
        </p:nvSpPr>
        <p:spPr>
          <a:xfrm xmlns:a="http://schemas.openxmlformats.org/drawingml/2006/main">
            <a:off x="723900" y="327660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6239EDD9-BB79-4E14-8215-F17329F107D5}"/>
              </a:ext>
            </a:extLst>
          </p:cNvPr>
          <p:cNvSpPr>
            <a:spLocks xmlns:a="http://schemas.openxmlformats.org/drawingml/2006/main" noGrp="1"/>
          </p:cNvSpPr>
          <p:nvPr/>
        </p:nvSpPr>
        <p:spPr>
          <a:xfrm xmlns:a="http://schemas.openxmlformats.org/drawingml/2006/main">
            <a:off x="895350" y="34290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OpenAPI</a:t>
            </a:r>
          </a:p>
        </p:txBody>
      </p:sp>
      <p:sp>
        <p:nvSpPr>
          <p:cNvPr id="14" name="">
            <a:extLst xmlns:a="http://schemas.openxmlformats.org/drawingml/2006/main">
              <a:ext uri="{FF2B5EF4-FFF2-40B4-BE49-F238E27FC236}">
                <a16:creationId xmlns:a16="http://schemas.microsoft.com/office/drawing/2014/main" id="{B6B6237E-EE44-4E97-A3AC-56DDD5F0DC2C}"/>
              </a:ext>
            </a:extLst>
          </p:cNvPr>
          <p:cNvSpPr>
            <a:spLocks xmlns:a="http://schemas.openxmlformats.org/drawingml/2006/main" noGrp="1"/>
          </p:cNvSpPr>
          <p:nvPr/>
        </p:nvSpPr>
        <p:spPr>
          <a:xfrm xmlns:a="http://schemas.openxmlformats.org/drawingml/2006/main">
            <a:off x="895350" y="375285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Every API is versioned, documented, and testable before implementation is complete.</a:t>
            </a:r>
          </a:p>
        </p:txBody>
      </p:sp>
      <p:sp>
        <p:nvSpPr>
          <p:cNvPr id="15" name="">
            <a:extLst xmlns:a="http://schemas.openxmlformats.org/drawingml/2006/main">
              <a:ext uri="{FF2B5EF4-FFF2-40B4-BE49-F238E27FC236}">
                <a16:creationId xmlns:a16="http://schemas.microsoft.com/office/drawing/2014/main" id="{4A6816B4-3C73-445A-9933-A164D4F17D5A}"/>
              </a:ext>
            </a:extLst>
          </p:cNvPr>
          <p:cNvSpPr>
            <a:spLocks xmlns:a="http://schemas.openxmlformats.org/drawingml/2006/main" noGrp="1"/>
          </p:cNvSpPr>
          <p:nvPr/>
        </p:nvSpPr>
        <p:spPr>
          <a:xfrm xmlns:a="http://schemas.openxmlformats.org/drawingml/2006/main">
            <a:off x="4438650" y="327660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49717619-FE23-4053-BFFD-EB943EA6C69F}"/>
              </a:ext>
            </a:extLst>
          </p:cNvPr>
          <p:cNvSpPr>
            <a:spLocks xmlns:a="http://schemas.openxmlformats.org/drawingml/2006/main" noGrp="1"/>
          </p:cNvSpPr>
          <p:nvPr/>
        </p:nvSpPr>
        <p:spPr>
          <a:xfrm xmlns:a="http://schemas.openxmlformats.org/drawingml/2006/main">
            <a:off x="4610100" y="34290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Testing</a:t>
            </a:r>
          </a:p>
        </p:txBody>
      </p:sp>
      <p:sp>
        <p:nvSpPr>
          <p:cNvPr id="17" name="">
            <a:extLst xmlns:a="http://schemas.openxmlformats.org/drawingml/2006/main">
              <a:ext uri="{FF2B5EF4-FFF2-40B4-BE49-F238E27FC236}">
                <a16:creationId xmlns:a16="http://schemas.microsoft.com/office/drawing/2014/main" id="{F0754551-DCEF-4BBA-99B3-352FC73138E3}"/>
              </a:ext>
            </a:extLst>
          </p:cNvPr>
          <p:cNvSpPr>
            <a:spLocks xmlns:a="http://schemas.openxmlformats.org/drawingml/2006/main" noGrp="1"/>
          </p:cNvSpPr>
          <p:nvPr/>
        </p:nvSpPr>
        <p:spPr>
          <a:xfrm xmlns:a="http://schemas.openxmlformats.org/drawingml/2006/main">
            <a:off x="4610100" y="375285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Unit, integration, E2E, security, performance, and tenant-isolation tests are required.</a:t>
            </a:r>
          </a:p>
        </p:txBody>
      </p:sp>
      <p:sp>
        <p:nvSpPr>
          <p:cNvPr id="18" name="">
            <a:extLst xmlns:a="http://schemas.openxmlformats.org/drawingml/2006/main">
              <a:ext uri="{FF2B5EF4-FFF2-40B4-BE49-F238E27FC236}">
                <a16:creationId xmlns:a16="http://schemas.microsoft.com/office/drawing/2014/main" id="{E5F4A534-55F7-4450-9B68-8FFB9665A6B1}"/>
              </a:ext>
            </a:extLst>
          </p:cNvPr>
          <p:cNvSpPr>
            <a:spLocks xmlns:a="http://schemas.openxmlformats.org/drawingml/2006/main" noGrp="1"/>
          </p:cNvSpPr>
          <p:nvPr/>
        </p:nvSpPr>
        <p:spPr>
          <a:xfrm xmlns:a="http://schemas.openxmlformats.org/drawingml/2006/main">
            <a:off x="8153400" y="327660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5CBB5246-3D6D-44AC-9A07-987869A45144}"/>
              </a:ext>
            </a:extLst>
          </p:cNvPr>
          <p:cNvSpPr>
            <a:spLocks xmlns:a="http://schemas.openxmlformats.org/drawingml/2006/main" noGrp="1"/>
          </p:cNvSpPr>
          <p:nvPr/>
        </p:nvSpPr>
        <p:spPr>
          <a:xfrm xmlns:a="http://schemas.openxmlformats.org/drawingml/2006/main">
            <a:off x="8324850" y="34290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Data protection</a:t>
            </a:r>
          </a:p>
        </p:txBody>
      </p:sp>
      <p:sp>
        <p:nvSpPr>
          <p:cNvPr id="20" name="">
            <a:extLst xmlns:a="http://schemas.openxmlformats.org/drawingml/2006/main">
              <a:ext uri="{FF2B5EF4-FFF2-40B4-BE49-F238E27FC236}">
                <a16:creationId xmlns:a16="http://schemas.microsoft.com/office/drawing/2014/main" id="{950B026C-347D-4880-9958-F7A84EC5F7B9}"/>
              </a:ext>
            </a:extLst>
          </p:cNvPr>
          <p:cNvSpPr>
            <a:spLocks xmlns:a="http://schemas.openxmlformats.org/drawingml/2006/main" noGrp="1"/>
          </p:cNvSpPr>
          <p:nvPr/>
        </p:nvSpPr>
        <p:spPr>
          <a:xfrm xmlns:a="http://schemas.openxmlformats.org/drawingml/2006/main">
            <a:off x="8324850" y="3752850"/>
            <a:ext cx="2990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Sensitive payroll and personal data require masking, encryption, retention, and export controls.</a:t>
            </a:r>
          </a:p>
        </p:txBody>
      </p:sp>
      <p:sp>
        <p:nvSpPr>
          <p:cNvPr id="21" name="">
            <a:extLst xmlns:a="http://schemas.openxmlformats.org/drawingml/2006/main">
              <a:ext uri="{FF2B5EF4-FFF2-40B4-BE49-F238E27FC236}">
                <a16:creationId xmlns:a16="http://schemas.microsoft.com/office/drawing/2014/main" id="{E6ED7ED8-03A9-47F1-9F04-199A87A888EB}"/>
              </a:ext>
            </a:extLst>
          </p:cNvPr>
          <p:cNvSpPr>
            <a:spLocks xmlns:a="http://schemas.openxmlformats.org/drawingml/2006/main" noGrp="1"/>
          </p:cNvSpPr>
          <p:nvPr/>
        </p:nvSpPr>
        <p:spPr>
          <a:xfrm xmlns:a="http://schemas.openxmlformats.org/drawingml/2006/main">
            <a:off x="723900" y="5105400"/>
            <a:ext cx="10763250" cy="495300"/>
          </a:xfrm>
          <a:prstGeom xmlns:a="http://schemas.openxmlformats.org/drawingml/2006/main" prst="roundRect">
            <a:avLst>
              <a:gd name="adj" fmla="val 15385"/>
            </a:avLst>
          </a:prstGeom>
          <a:solidFill xmlns:a="http://schemas.openxmlformats.org/drawingml/2006/main">
            <a:srgbClr val="F1F5F9"/>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90E7E531-CEA6-4411-8A1F-283BF7E51193}"/>
              </a:ext>
            </a:extLst>
          </p:cNvPr>
          <p:cNvSpPr>
            <a:spLocks xmlns:a="http://schemas.openxmlformats.org/drawingml/2006/main" noGrp="1"/>
          </p:cNvSpPr>
          <p:nvPr/>
        </p:nvSpPr>
        <p:spPr>
          <a:xfrm xmlns:a="http://schemas.openxmlformats.org/drawingml/2006/main">
            <a:off x="1009650" y="5238750"/>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20618"/>
                </a:solidFill>
              </a:defRPr>
            </a:pPr>
            <a:r>
              <a:rPr sz="1350" b="1">
                <a:solidFill>
                  <a:srgbClr val="020618"/>
                </a:solidFill>
              </a:rPr>
              <a:t>Target coverage is at least 85%, with extra focus on payroll calculations, rules, ledger, audit, and security paths.</a:t>
            </a:r>
          </a:p>
        </p:txBody>
      </p:sp>
      <p:sp>
        <p:nvSpPr>
          <p:cNvPr id="23" name="">
            <a:extLst xmlns:a="http://schemas.openxmlformats.org/drawingml/2006/main">
              <a:ext uri="{FF2B5EF4-FFF2-40B4-BE49-F238E27FC236}">
                <a16:creationId xmlns:a16="http://schemas.microsoft.com/office/drawing/2014/main" id="{C6ED4236-23AC-4BD4-B5B3-B77BA03BDA75}"/>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24" name="">
            <a:extLst xmlns:a="http://schemas.openxmlformats.org/drawingml/2006/main">
              <a:ext uri="{FF2B5EF4-FFF2-40B4-BE49-F238E27FC236}">
                <a16:creationId xmlns:a16="http://schemas.microsoft.com/office/drawing/2014/main" id="{68185445-59DE-4F7F-8102-C213B118903F}"/>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10</a:t>
            </a:r>
          </a:p>
        </p:txBody>
      </p:sp>
    </p:spTree>
    <p:extLst>
      <p:ext uri="{BB962C8B-B14F-4D97-AF65-F5344CB8AC3E}">
        <p14:creationId xmlns:p14="http://schemas.microsoft.com/office/powerpoint/2010/main" val="169015322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FFF8AA-A9A1-4547-82BA-DAF88156203C}"/>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What Is Not Being Built Now</a:t>
            </a:r>
          </a:p>
        </p:txBody>
      </p:sp>
      <p:sp>
        <p:nvSpPr>
          <p:cNvPr id="2" name="">
            <a:extLst xmlns:a="http://schemas.openxmlformats.org/drawingml/2006/main">
              <a:ext uri="{FF2B5EF4-FFF2-40B4-BE49-F238E27FC236}">
                <a16:creationId xmlns:a16="http://schemas.microsoft.com/office/drawing/2014/main" id="{F3C987A3-2D48-4286-8D2F-8D14096060D4}"/>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architecture is prepared for future modules, but Phase 7A stays focused.</a:t>
            </a:r>
          </a:p>
        </p:txBody>
      </p:sp>
      <p:sp>
        <p:nvSpPr>
          <p:cNvPr id="3" name="">
            <a:extLst xmlns:a="http://schemas.openxmlformats.org/drawingml/2006/main">
              <a:ext uri="{FF2B5EF4-FFF2-40B4-BE49-F238E27FC236}">
                <a16:creationId xmlns:a16="http://schemas.microsoft.com/office/drawing/2014/main" id="{B6423D56-1E2D-4E53-86AA-E4BD2E78FCDB}"/>
              </a:ext>
            </a:extLst>
          </p:cNvPr>
          <p:cNvSpPr>
            <a:spLocks xmlns:a="http://schemas.openxmlformats.org/drawingml/2006/main" noGrp="1"/>
          </p:cNvSpPr>
          <p:nvPr/>
        </p:nvSpPr>
        <p:spPr>
          <a:xfrm xmlns:a="http://schemas.openxmlformats.org/drawingml/2006/main">
            <a:off x="742950" y="1619250"/>
            <a:ext cx="491490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421D9B51-20FE-45DC-A498-0A16676B979E}"/>
              </a:ext>
            </a:extLst>
          </p:cNvPr>
          <p:cNvSpPr>
            <a:spLocks xmlns:a="http://schemas.openxmlformats.org/drawingml/2006/main" noGrp="1"/>
          </p:cNvSpPr>
          <p:nvPr/>
        </p:nvSpPr>
        <p:spPr>
          <a:xfrm xmlns:a="http://schemas.openxmlformats.org/drawingml/2006/main">
            <a:off x="1066800" y="19431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20618"/>
                </a:solidFill>
              </a:defRPr>
            </a:pPr>
            <a:r>
              <a:rPr sz="1800" b="1">
                <a:solidFill>
                  <a:srgbClr val="020618"/>
                </a:solidFill>
              </a:rPr>
              <a:t>Later phases</a:t>
            </a:r>
          </a:p>
        </p:txBody>
      </p:sp>
      <p:sp>
        <p:nvSpPr>
          <p:cNvPr id="5" name="">
            <a:extLst xmlns:a="http://schemas.openxmlformats.org/drawingml/2006/main">
              <a:ext uri="{FF2B5EF4-FFF2-40B4-BE49-F238E27FC236}">
                <a16:creationId xmlns:a16="http://schemas.microsoft.com/office/drawing/2014/main" id="{C4E988F8-724E-4286-A106-BE2FE8CF1DBB}"/>
              </a:ext>
            </a:extLst>
          </p:cNvPr>
          <p:cNvSpPr>
            <a:spLocks xmlns:a="http://schemas.openxmlformats.org/drawingml/2006/main" noGrp="1"/>
          </p:cNvSpPr>
          <p:nvPr/>
        </p:nvSpPr>
        <p:spPr>
          <a:xfrm xmlns:a="http://schemas.openxmlformats.org/drawingml/2006/main">
            <a:off x="1066800" y="2419350"/>
            <a:ext cx="40005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14158"/>
                </a:solidFill>
              </a:defRPr>
            </a:pPr>
            <a:r>
              <a:rPr sz="1425" b="0">
                <a:solidFill>
                  <a:srgbClr val="314158"/>
                </a:solidFill>
              </a:rPr>
              <a:t>- Recruitment and onboarding expansion.</a:t>
            </a:r>
          </a:p>
          <a:p xmlns:a="http://schemas.openxmlformats.org/drawingml/2006/main">
            <a:pPr algn="l">
              <a:defRPr sz="1425" b="0">
                <a:solidFill>
                  <a:srgbClr val="314158"/>
                </a:solidFill>
              </a:defRPr>
            </a:pPr>
            <a:r>
              <a:rPr sz="1425" b="0">
                <a:solidFill>
                  <a:srgbClr val="314158"/>
                </a:solidFill>
              </a:rPr>
              <a:t>- Performance, LMS, engagement, expenses, assets, and service desk.</a:t>
            </a:r>
          </a:p>
          <a:p xmlns:a="http://schemas.openxmlformats.org/drawingml/2006/main">
            <a:pPr algn="l">
              <a:defRPr sz="1425" b="0">
                <a:solidFill>
                  <a:srgbClr val="314158"/>
                </a:solidFill>
              </a:defRPr>
            </a:pPr>
            <a:r>
              <a:rPr sz="1425" b="0">
                <a:solidFill>
                  <a:srgbClr val="314158"/>
                </a:solidFill>
              </a:rPr>
              <a:t>- Advanced BI, marketplace, and advanced AI assistant scope.</a:t>
            </a:r>
          </a:p>
          <a:p xmlns:a="http://schemas.openxmlformats.org/drawingml/2006/main">
            <a:pPr algn="l">
              <a:defRPr sz="1425" b="0">
                <a:solidFill>
                  <a:srgbClr val="314158"/>
                </a:solidFill>
              </a:defRPr>
            </a:pPr>
            <a:r>
              <a:rPr sz="1425" b="0">
                <a:solidFill>
                  <a:srgbClr val="314158"/>
                </a:solidFill>
              </a:rPr>
              <a:t>- Multi-country payroll packs beyond the India-first foundation.</a:t>
            </a:r>
          </a:p>
        </p:txBody>
      </p:sp>
      <p:sp>
        <p:nvSpPr>
          <p:cNvPr id="6" name="">
            <a:extLst xmlns:a="http://schemas.openxmlformats.org/drawingml/2006/main">
              <a:ext uri="{FF2B5EF4-FFF2-40B4-BE49-F238E27FC236}">
                <a16:creationId xmlns:a16="http://schemas.microsoft.com/office/drawing/2014/main" id="{3C1528BB-DCD1-4EE2-B64B-AAD1ADFFBA3A}"/>
              </a:ext>
            </a:extLst>
          </p:cNvPr>
          <p:cNvSpPr>
            <a:spLocks xmlns:a="http://schemas.openxmlformats.org/drawingml/2006/main" noGrp="1"/>
          </p:cNvSpPr>
          <p:nvPr/>
        </p:nvSpPr>
        <p:spPr>
          <a:xfrm xmlns:a="http://schemas.openxmlformats.org/drawingml/2006/main">
            <a:off x="6534150" y="1619250"/>
            <a:ext cx="4914900" cy="3371850"/>
          </a:xfrm>
          <a:prstGeom xmlns:a="http://schemas.openxmlformats.org/drawingml/2006/main" prst="roundRect">
            <a:avLst>
              <a:gd name="adj" fmla="val 2260"/>
            </a:avLst>
          </a:prstGeom>
          <a:solidFill xmlns:a="http://schemas.openxmlformats.org/drawingml/2006/main">
            <a:srgbClr val="ECFDF5"/>
          </a:solidFill>
          <a:ln xmlns:a="http://schemas.openxmlformats.org/drawingml/2006/main" w="9525">
            <a:solidFill>
              <a:srgbClr val="A4F4CF"/>
            </a:solidFill>
            <a:prstDash val="solid"/>
          </a:ln>
        </p:spPr>
      </p:sp>
      <p:sp>
        <p:nvSpPr>
          <p:cNvPr id="7" name="">
            <a:extLst xmlns:a="http://schemas.openxmlformats.org/drawingml/2006/main">
              <a:ext uri="{FF2B5EF4-FFF2-40B4-BE49-F238E27FC236}">
                <a16:creationId xmlns:a16="http://schemas.microsoft.com/office/drawing/2014/main" id="{75C5C899-21AB-49DB-84B0-3661A8DC7DAD}"/>
              </a:ext>
            </a:extLst>
          </p:cNvPr>
          <p:cNvSpPr>
            <a:spLocks xmlns:a="http://schemas.openxmlformats.org/drawingml/2006/main" noGrp="1"/>
          </p:cNvSpPr>
          <p:nvPr/>
        </p:nvSpPr>
        <p:spPr>
          <a:xfrm xmlns:a="http://schemas.openxmlformats.org/drawingml/2006/main">
            <a:off x="6858000" y="19431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20618"/>
                </a:solidFill>
              </a:defRPr>
            </a:pPr>
            <a:r>
              <a:rPr sz="1800" b="1">
                <a:solidFill>
                  <a:srgbClr val="020618"/>
                </a:solidFill>
              </a:rPr>
              <a:t>Future-ready approach</a:t>
            </a:r>
          </a:p>
        </p:txBody>
      </p:sp>
      <p:sp>
        <p:nvSpPr>
          <p:cNvPr id="8" name="">
            <a:extLst xmlns:a="http://schemas.openxmlformats.org/drawingml/2006/main">
              <a:ext uri="{FF2B5EF4-FFF2-40B4-BE49-F238E27FC236}">
                <a16:creationId xmlns:a16="http://schemas.microsoft.com/office/drawing/2014/main" id="{13BC2308-8EA1-4BB9-975A-DFC07C9B1607}"/>
              </a:ext>
            </a:extLst>
          </p:cNvPr>
          <p:cNvSpPr>
            <a:spLocks xmlns:a="http://schemas.openxmlformats.org/drawingml/2006/main" noGrp="1"/>
          </p:cNvSpPr>
          <p:nvPr/>
        </p:nvSpPr>
        <p:spPr>
          <a:xfrm xmlns:a="http://schemas.openxmlformats.org/drawingml/2006/main">
            <a:off x="6858000" y="2419350"/>
            <a:ext cx="40005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14158"/>
                </a:solidFill>
              </a:defRPr>
            </a:pPr>
            <a:r>
              <a:rPr sz="1425" b="0">
                <a:solidFill>
                  <a:srgbClr val="314158"/>
                </a:solidFill>
              </a:rPr>
              <a:t>- New modules connect through extensions and configuration.</a:t>
            </a:r>
          </a:p>
          <a:p xmlns:a="http://schemas.openxmlformats.org/drawingml/2006/main">
            <a:pPr algn="l">
              <a:defRPr sz="1425" b="0">
                <a:solidFill>
                  <a:srgbClr val="314158"/>
                </a:solidFill>
              </a:defRPr>
            </a:pPr>
            <a:r>
              <a:rPr sz="1425" b="0">
                <a:solidFill>
                  <a:srgbClr val="314158"/>
                </a:solidFill>
              </a:rPr>
              <a:t>- Customer-specific behavior does not modify core logic.</a:t>
            </a:r>
          </a:p>
          <a:p xmlns:a="http://schemas.openxmlformats.org/drawingml/2006/main">
            <a:pPr algn="l">
              <a:defRPr sz="1425" b="0">
                <a:solidFill>
                  <a:srgbClr val="314158"/>
                </a:solidFill>
              </a:defRPr>
            </a:pPr>
            <a:r>
              <a:rPr sz="1425" b="0">
                <a:solidFill>
                  <a:srgbClr val="314158"/>
                </a:solidFill>
              </a:rPr>
              <a:t>- Providers and connectors remain replaceable.</a:t>
            </a:r>
          </a:p>
          <a:p xmlns:a="http://schemas.openxmlformats.org/drawingml/2006/main">
            <a:pPr algn="l">
              <a:defRPr sz="1425" b="0">
                <a:solidFill>
                  <a:srgbClr val="314158"/>
                </a:solidFill>
              </a:defRPr>
            </a:pPr>
            <a:r>
              <a:rPr sz="1425" b="0">
                <a:solidFill>
                  <a:srgbClr val="314158"/>
                </a:solidFill>
              </a:rPr>
              <a:t>- Approved events and APIs reduce direct coupling.</a:t>
            </a:r>
          </a:p>
        </p:txBody>
      </p:sp>
      <p:sp>
        <p:nvSpPr>
          <p:cNvPr id="9" name="">
            <a:extLst xmlns:a="http://schemas.openxmlformats.org/drawingml/2006/main">
              <a:ext uri="{FF2B5EF4-FFF2-40B4-BE49-F238E27FC236}">
                <a16:creationId xmlns:a16="http://schemas.microsoft.com/office/drawing/2014/main" id="{0A91163B-88FB-4318-8135-DF005F0EDCC4}"/>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10" name="">
            <a:extLst xmlns:a="http://schemas.openxmlformats.org/drawingml/2006/main">
              <a:ext uri="{FF2B5EF4-FFF2-40B4-BE49-F238E27FC236}">
                <a16:creationId xmlns:a16="http://schemas.microsoft.com/office/drawing/2014/main" id="{B7425CEA-B862-4586-B281-2ED9A542B7CD}"/>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11</a:t>
            </a:r>
          </a:p>
        </p:txBody>
      </p:sp>
    </p:spTree>
    <p:extLst>
      <p:ext uri="{BB962C8B-B14F-4D97-AF65-F5344CB8AC3E}">
        <p14:creationId xmlns:p14="http://schemas.microsoft.com/office/powerpoint/2010/main" val="1544384484"/>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0A7AE2-BB2B-4648-A995-AA144725781F}"/>
              </a:ext>
            </a:extLst>
          </p:cNvPr>
          <p:cNvSpPr>
            <a:spLocks xmlns:a="http://schemas.openxmlformats.org/drawingml/2006/main" noGrp="1"/>
          </p:cNvSpPr>
          <p:nvPr/>
        </p:nvSpPr>
        <p:spPr>
          <a:xfrm xmlns:a="http://schemas.openxmlformats.org/drawingml/2006/main">
            <a:off x="609600" y="4000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Ready To Start Phase 7A Development</a:t>
            </a:r>
          </a:p>
        </p:txBody>
      </p:sp>
      <p:sp>
        <p:nvSpPr>
          <p:cNvPr id="2" name="">
            <a:extLst xmlns:a="http://schemas.openxmlformats.org/drawingml/2006/main">
              <a:ext uri="{FF2B5EF4-FFF2-40B4-BE49-F238E27FC236}">
                <a16:creationId xmlns:a16="http://schemas.microsoft.com/office/drawing/2014/main" id="{6C44FFA6-B9CE-4DC9-AB86-53071EEFB72F}"/>
              </a:ext>
            </a:extLst>
          </p:cNvPr>
          <p:cNvSpPr>
            <a:spLocks xmlns:a="http://schemas.openxmlformats.org/drawingml/2006/main" noGrp="1"/>
          </p:cNvSpPr>
          <p:nvPr/>
        </p:nvSpPr>
        <p:spPr>
          <a:xfrm xmlns:a="http://schemas.openxmlformats.org/drawingml/2006/main">
            <a:off x="609600" y="9906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48E"/>
                </a:solidFill>
              </a:defRPr>
            </a:pPr>
            <a:r>
              <a:rPr sz="1350" b="0">
                <a:solidFill>
                  <a:srgbClr val="62748E"/>
                </a:solidFill>
              </a:rPr>
              <a:t>The documentation gate is complete and the approved build can begin from Sprint S1.</a:t>
            </a:r>
          </a:p>
        </p:txBody>
      </p:sp>
      <p:sp>
        <p:nvSpPr>
          <p:cNvPr id="3" name="">
            <a:extLst xmlns:a="http://schemas.openxmlformats.org/drawingml/2006/main">
              <a:ext uri="{FF2B5EF4-FFF2-40B4-BE49-F238E27FC236}">
                <a16:creationId xmlns:a16="http://schemas.microsoft.com/office/drawing/2014/main" id="{3037422A-BE12-4E73-827F-B08CD2ED30AD}"/>
              </a:ext>
            </a:extLst>
          </p:cNvPr>
          <p:cNvSpPr>
            <a:spLocks xmlns:a="http://schemas.openxmlformats.org/drawingml/2006/main" noGrp="1"/>
          </p:cNvSpPr>
          <p:nvPr/>
        </p:nvSpPr>
        <p:spPr>
          <a:xfrm xmlns:a="http://schemas.openxmlformats.org/drawingml/2006/main">
            <a:off x="704850" y="1619250"/>
            <a:ext cx="3333750" cy="1123950"/>
          </a:xfrm>
          <a:prstGeom xmlns:a="http://schemas.openxmlformats.org/drawingml/2006/main" prst="roundRect">
            <a:avLst>
              <a:gd name="adj" fmla="val 6780"/>
            </a:avLst>
          </a:prstGeom>
          <a:solidFill xmlns:a="http://schemas.openxmlformats.org/drawingml/2006/main">
            <a:srgbClr val="EFF6FF"/>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B003168A-4B0A-4E1E-AD2B-05817E39019F}"/>
              </a:ext>
            </a:extLst>
          </p:cNvPr>
          <p:cNvSpPr>
            <a:spLocks xmlns:a="http://schemas.openxmlformats.org/drawingml/2006/main" noGrp="1"/>
          </p:cNvSpPr>
          <p:nvPr/>
        </p:nvSpPr>
        <p:spPr>
          <a:xfrm xmlns:a="http://schemas.openxmlformats.org/drawingml/2006/main">
            <a:off x="914400" y="17907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447E6"/>
                </a:solidFill>
              </a:defRPr>
            </a:pPr>
            <a:r>
              <a:rPr sz="2850" b="1">
                <a:solidFill>
                  <a:srgbClr val="1447E6"/>
                </a:solidFill>
              </a:rPr>
              <a:t>5</a:t>
            </a:r>
          </a:p>
        </p:txBody>
      </p:sp>
      <p:sp>
        <p:nvSpPr>
          <p:cNvPr id="5" name="">
            <a:extLst xmlns:a="http://schemas.openxmlformats.org/drawingml/2006/main">
              <a:ext uri="{FF2B5EF4-FFF2-40B4-BE49-F238E27FC236}">
                <a16:creationId xmlns:a16="http://schemas.microsoft.com/office/drawing/2014/main" id="{175C885C-580C-45A7-B783-D1AFA3BA1675}"/>
              </a:ext>
            </a:extLst>
          </p:cNvPr>
          <p:cNvSpPr>
            <a:spLocks xmlns:a="http://schemas.openxmlformats.org/drawingml/2006/main" noGrp="1"/>
          </p:cNvSpPr>
          <p:nvPr/>
        </p:nvSpPr>
        <p:spPr>
          <a:xfrm xmlns:a="http://schemas.openxmlformats.org/drawingml/2006/main">
            <a:off x="914400" y="22669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document types per module: BRD, Technical, DB, UI, Test</a:t>
            </a:r>
          </a:p>
        </p:txBody>
      </p:sp>
      <p:sp>
        <p:nvSpPr>
          <p:cNvPr id="6" name="">
            <a:extLst xmlns:a="http://schemas.openxmlformats.org/drawingml/2006/main">
              <a:ext uri="{FF2B5EF4-FFF2-40B4-BE49-F238E27FC236}">
                <a16:creationId xmlns:a16="http://schemas.microsoft.com/office/drawing/2014/main" id="{E6E36F0F-0915-44E3-9D83-1806CDE84927}"/>
              </a:ext>
            </a:extLst>
          </p:cNvPr>
          <p:cNvSpPr>
            <a:spLocks xmlns:a="http://schemas.openxmlformats.org/drawingml/2006/main" noGrp="1"/>
          </p:cNvSpPr>
          <p:nvPr/>
        </p:nvSpPr>
        <p:spPr>
          <a:xfrm xmlns:a="http://schemas.openxmlformats.org/drawingml/2006/main">
            <a:off x="4438650" y="1619250"/>
            <a:ext cx="3333750" cy="1123950"/>
          </a:xfrm>
          <a:prstGeom xmlns:a="http://schemas.openxmlformats.org/drawingml/2006/main" prst="roundRect">
            <a:avLst>
              <a:gd name="adj" fmla="val 6780"/>
            </a:avLst>
          </a:prstGeom>
          <a:solidFill xmlns:a="http://schemas.openxmlformats.org/drawingml/2006/main">
            <a:srgbClr val="ECFDF5"/>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237A14D2-5FCF-4A7B-8690-E49C44D18D46}"/>
              </a:ext>
            </a:extLst>
          </p:cNvPr>
          <p:cNvSpPr>
            <a:spLocks xmlns:a="http://schemas.openxmlformats.org/drawingml/2006/main" noGrp="1"/>
          </p:cNvSpPr>
          <p:nvPr/>
        </p:nvSpPr>
        <p:spPr>
          <a:xfrm xmlns:a="http://schemas.openxmlformats.org/drawingml/2006/main">
            <a:off x="4648200" y="17907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9966"/>
                </a:solidFill>
              </a:defRPr>
            </a:pPr>
            <a:r>
              <a:rPr sz="2850" b="1">
                <a:solidFill>
                  <a:srgbClr val="009966"/>
                </a:solidFill>
              </a:rPr>
              <a:t>11</a:t>
            </a:r>
          </a:p>
        </p:txBody>
      </p:sp>
      <p:sp>
        <p:nvSpPr>
          <p:cNvPr id="8" name="">
            <a:extLst xmlns:a="http://schemas.openxmlformats.org/drawingml/2006/main">
              <a:ext uri="{FF2B5EF4-FFF2-40B4-BE49-F238E27FC236}">
                <a16:creationId xmlns:a16="http://schemas.microsoft.com/office/drawing/2014/main" id="{55D5F8B3-9104-45F3-B079-AE5AB520BACE}"/>
              </a:ext>
            </a:extLst>
          </p:cNvPr>
          <p:cNvSpPr>
            <a:spLocks xmlns:a="http://schemas.openxmlformats.org/drawingml/2006/main" noGrp="1"/>
          </p:cNvSpPr>
          <p:nvPr/>
        </p:nvSpPr>
        <p:spPr>
          <a:xfrm xmlns:a="http://schemas.openxmlformats.org/drawingml/2006/main">
            <a:off x="4648200" y="22669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approved development module sets</a:t>
            </a:r>
          </a:p>
        </p:txBody>
      </p:sp>
      <p:sp>
        <p:nvSpPr>
          <p:cNvPr id="9" name="">
            <a:extLst xmlns:a="http://schemas.openxmlformats.org/drawingml/2006/main">
              <a:ext uri="{FF2B5EF4-FFF2-40B4-BE49-F238E27FC236}">
                <a16:creationId xmlns:a16="http://schemas.microsoft.com/office/drawing/2014/main" id="{A2A2C034-5530-4E53-9362-FA544E111310}"/>
              </a:ext>
            </a:extLst>
          </p:cNvPr>
          <p:cNvSpPr>
            <a:spLocks xmlns:a="http://schemas.openxmlformats.org/drawingml/2006/main" noGrp="1"/>
          </p:cNvSpPr>
          <p:nvPr/>
        </p:nvSpPr>
        <p:spPr>
          <a:xfrm xmlns:a="http://schemas.openxmlformats.org/drawingml/2006/main">
            <a:off x="8153400" y="1619250"/>
            <a:ext cx="3333750" cy="1123950"/>
          </a:xfrm>
          <a:prstGeom xmlns:a="http://schemas.openxmlformats.org/drawingml/2006/main" prst="roundRect">
            <a:avLst>
              <a:gd name="adj" fmla="val 6780"/>
            </a:avLst>
          </a:prstGeom>
          <a:solidFill xmlns:a="http://schemas.openxmlformats.org/drawingml/2006/main">
            <a:srgbClr val="FFFBEB"/>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8274035-62B0-4A87-9563-D7E0DFED5283}"/>
              </a:ext>
            </a:extLst>
          </p:cNvPr>
          <p:cNvSpPr>
            <a:spLocks xmlns:a="http://schemas.openxmlformats.org/drawingml/2006/main" noGrp="1"/>
          </p:cNvSpPr>
          <p:nvPr/>
        </p:nvSpPr>
        <p:spPr>
          <a:xfrm xmlns:a="http://schemas.openxmlformats.org/drawingml/2006/main">
            <a:off x="8362950" y="17907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E9A00"/>
                </a:solidFill>
              </a:defRPr>
            </a:pPr>
            <a:r>
              <a:rPr sz="2850" b="1">
                <a:solidFill>
                  <a:srgbClr val="FE9A00"/>
                </a:solidFill>
              </a:rPr>
              <a:t>S1</a:t>
            </a:r>
          </a:p>
        </p:txBody>
      </p:sp>
      <p:sp>
        <p:nvSpPr>
          <p:cNvPr id="11" name="">
            <a:extLst xmlns:a="http://schemas.openxmlformats.org/drawingml/2006/main">
              <a:ext uri="{FF2B5EF4-FFF2-40B4-BE49-F238E27FC236}">
                <a16:creationId xmlns:a16="http://schemas.microsoft.com/office/drawing/2014/main" id="{FBF3ECDC-3BBA-4922-AE17-C204DB12ED1F}"/>
              </a:ext>
            </a:extLst>
          </p:cNvPr>
          <p:cNvSpPr>
            <a:spLocks xmlns:a="http://schemas.openxmlformats.org/drawingml/2006/main" noGrp="1"/>
          </p:cNvSpPr>
          <p:nvPr/>
        </p:nvSpPr>
        <p:spPr>
          <a:xfrm xmlns:a="http://schemas.openxmlformats.org/drawingml/2006/main">
            <a:off x="8362950" y="22669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14158"/>
                </a:solidFill>
              </a:defRPr>
            </a:pPr>
            <a:r>
              <a:rPr sz="1275" b="0">
                <a:solidFill>
                  <a:srgbClr val="314158"/>
                </a:solidFill>
              </a:rPr>
              <a:t>first development focus: Tenant + Identity</a:t>
            </a:r>
          </a:p>
        </p:txBody>
      </p:sp>
      <p:sp>
        <p:nvSpPr>
          <p:cNvPr id="12" name="">
            <a:extLst xmlns:a="http://schemas.openxmlformats.org/drawingml/2006/main">
              <a:ext uri="{FF2B5EF4-FFF2-40B4-BE49-F238E27FC236}">
                <a16:creationId xmlns:a16="http://schemas.microsoft.com/office/drawing/2014/main" id="{4083D2D1-6853-4438-860F-8DC36DA8D97F}"/>
              </a:ext>
            </a:extLst>
          </p:cNvPr>
          <p:cNvSpPr>
            <a:spLocks xmlns:a="http://schemas.openxmlformats.org/drawingml/2006/main" noGrp="1"/>
          </p:cNvSpPr>
          <p:nvPr/>
        </p:nvSpPr>
        <p:spPr>
          <a:xfrm xmlns:a="http://schemas.openxmlformats.org/drawingml/2006/main">
            <a:off x="723900" y="3295650"/>
            <a:ext cx="1076325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08C6DA3-6BBC-4697-B154-D6A8001CA1FE}"/>
              </a:ext>
            </a:extLst>
          </p:cNvPr>
          <p:cNvSpPr>
            <a:spLocks xmlns:a="http://schemas.openxmlformats.org/drawingml/2006/main" noGrp="1"/>
          </p:cNvSpPr>
          <p:nvPr/>
        </p:nvSpPr>
        <p:spPr>
          <a:xfrm xmlns:a="http://schemas.openxmlformats.org/drawingml/2006/main">
            <a:off x="1009650" y="3581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20618"/>
                </a:solidFill>
              </a:defRPr>
            </a:pPr>
            <a:r>
              <a:rPr sz="1800" b="1">
                <a:solidFill>
                  <a:srgbClr val="020618"/>
                </a:solidFill>
              </a:rPr>
              <a:t>Business conclusion</a:t>
            </a:r>
          </a:p>
        </p:txBody>
      </p:sp>
      <p:sp>
        <p:nvSpPr>
          <p:cNvPr id="14" name="">
            <a:extLst xmlns:a="http://schemas.openxmlformats.org/drawingml/2006/main">
              <a:ext uri="{FF2B5EF4-FFF2-40B4-BE49-F238E27FC236}">
                <a16:creationId xmlns:a16="http://schemas.microsoft.com/office/drawing/2014/main" id="{C32E5062-EC2C-4D7A-8C3A-F3D81FAAD1BA}"/>
              </a:ext>
            </a:extLst>
          </p:cNvPr>
          <p:cNvSpPr>
            <a:spLocks xmlns:a="http://schemas.openxmlformats.org/drawingml/2006/main" noGrp="1"/>
          </p:cNvSpPr>
          <p:nvPr/>
        </p:nvSpPr>
        <p:spPr>
          <a:xfrm xmlns:a="http://schemas.openxmlformats.org/drawingml/2006/main">
            <a:off x="1009650" y="400050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14158"/>
                </a:solidFill>
              </a:defRPr>
            </a:pPr>
            <a:r>
              <a:rPr sz="1425" b="0">
                <a:solidFill>
                  <a:srgbClr val="314158"/>
                </a:solidFill>
              </a:rPr>
              <a:t>Phase 7A delivers a configurable, tenant-safe, auditable HRMS foundation plus the first real HR operations. It is suitable for enterprise delivery because rules, workflows, forms, reports, integrations, and future modules are designed to be added without rewriting the core.</a:t>
            </a:r>
          </a:p>
        </p:txBody>
      </p:sp>
      <p:sp>
        <p:nvSpPr>
          <p:cNvPr id="15" name="">
            <a:extLst xmlns:a="http://schemas.openxmlformats.org/drawingml/2006/main">
              <a:ext uri="{FF2B5EF4-FFF2-40B4-BE49-F238E27FC236}">
                <a16:creationId xmlns:a16="http://schemas.microsoft.com/office/drawing/2014/main" id="{B2EE06D4-0B6E-4706-92E3-F8C4644D8484}"/>
              </a:ext>
            </a:extLst>
          </p:cNvPr>
          <p:cNvSpPr>
            <a:spLocks xmlns:a="http://schemas.openxmlformats.org/drawingml/2006/main" noGrp="1"/>
          </p:cNvSpPr>
          <p:nvPr/>
        </p:nvSpPr>
        <p:spPr>
          <a:xfrm xmlns:a="http://schemas.openxmlformats.org/drawingml/2006/main">
            <a:off x="723900" y="4857750"/>
            <a:ext cx="10763250" cy="704850"/>
          </a:xfrm>
          <a:prstGeom xmlns:a="http://schemas.openxmlformats.org/drawingml/2006/main" prst="roundRect">
            <a:avLst>
              <a:gd name="adj" fmla="val 10811"/>
            </a:avLst>
          </a:prstGeom>
          <a:solidFill xmlns:a="http://schemas.openxmlformats.org/drawingml/2006/main">
            <a:srgbClr val="F1F5F9"/>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E13BA550-70D2-45D1-81DC-1A9A322E36EE}"/>
              </a:ext>
            </a:extLst>
          </p:cNvPr>
          <p:cNvSpPr>
            <a:spLocks xmlns:a="http://schemas.openxmlformats.org/drawingml/2006/main" noGrp="1"/>
          </p:cNvSpPr>
          <p:nvPr/>
        </p:nvSpPr>
        <p:spPr>
          <a:xfrm xmlns:a="http://schemas.openxmlformats.org/drawingml/2006/main">
            <a:off x="1009650" y="50482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14158"/>
                </a:solidFill>
              </a:defRPr>
            </a:pPr>
            <a:r>
              <a:rPr sz="1200" b="0">
                <a:solidFill>
                  <a:srgbClr val="314158"/>
                </a:solidFill>
              </a:rPr>
              <a:t>Sources used across approved research and summary: approved internal Phase 7A docs, Wikimedia Commons visuals, OpenAPI, OWASP, WCAG, Microsoft SQL Server RLS, OpenFeature, RabbitMQ, and HR solution market references such as Zoho People, Keka, greytHR, BambooHR, and Darwinbox.</a:t>
            </a:r>
          </a:p>
        </p:txBody>
      </p:sp>
      <p:sp>
        <p:nvSpPr>
          <p:cNvPr id="17" name="">
            <a:extLst xmlns:a="http://schemas.openxmlformats.org/drawingml/2006/main">
              <a:ext uri="{FF2B5EF4-FFF2-40B4-BE49-F238E27FC236}">
                <a16:creationId xmlns:a16="http://schemas.microsoft.com/office/drawing/2014/main" id="{EE23F448-F481-4740-A832-9E72DC5B8D7D}"/>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748E"/>
                </a:solidFill>
              </a:defRPr>
            </a:pPr>
            <a:r>
              <a:rPr sz="900" b="0">
                <a:solidFill>
                  <a:srgbClr val="62748E"/>
                </a:solidFill>
              </a:rPr>
              <a:t>HRMS Platform | Phase 7A Approved Development</a:t>
            </a:r>
          </a:p>
        </p:txBody>
      </p:sp>
      <p:sp>
        <p:nvSpPr>
          <p:cNvPr id="18" name="">
            <a:extLst xmlns:a="http://schemas.openxmlformats.org/drawingml/2006/main">
              <a:ext uri="{FF2B5EF4-FFF2-40B4-BE49-F238E27FC236}">
                <a16:creationId xmlns:a16="http://schemas.microsoft.com/office/drawing/2014/main" id="{698075C2-D71E-4BA3-A32B-E252DB92AC43}"/>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2748E"/>
                </a:solidFill>
              </a:defRPr>
            </a:pPr>
            <a:r>
              <a:rPr sz="900" b="0">
                <a:solidFill>
                  <a:srgbClr val="62748E"/>
                </a:solidFill>
              </a:rPr>
              <a:t>12</a:t>
            </a:r>
          </a:p>
        </p:txBody>
      </p:sp>
    </p:spTree>
    <p:extLst>
      <p:ext uri="{BB962C8B-B14F-4D97-AF65-F5344CB8AC3E}">
        <p14:creationId xmlns:p14="http://schemas.microsoft.com/office/powerpoint/2010/main" val="307766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2026-06-29T09:34:36.3030000Z</dcterms:created>
  <dcterms:modified xsi:type="dcterms:W3CDTF">2026-06-29T09:34:36.3030000Z</dcterms:modified>
</coreProperties>
</file>